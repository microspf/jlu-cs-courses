
<file path=[Content_Types].xml><?xml version="1.0" encoding="utf-8"?>
<Types xmlns="http://schemas.openxmlformats.org/package/2006/content-types">
  <Default Extension="jpeg" ContentType="image/jpeg"/>
  <Default Extension="JPG" ContentType="image/.jp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3"/>
    <p:sldId id="615" r:id="rId4"/>
    <p:sldId id="616" r:id="rId6"/>
    <p:sldId id="715" r:id="rId7"/>
    <p:sldId id="767" r:id="rId8"/>
    <p:sldId id="768" r:id="rId9"/>
    <p:sldId id="618" r:id="rId10"/>
    <p:sldId id="778" r:id="rId11"/>
    <p:sldId id="779" r:id="rId12"/>
    <p:sldId id="713" r:id="rId13"/>
    <p:sldId id="769" r:id="rId14"/>
    <p:sldId id="621" r:id="rId15"/>
    <p:sldId id="770" r:id="rId16"/>
    <p:sldId id="864" r:id="rId17"/>
    <p:sldId id="865" r:id="rId18"/>
    <p:sldId id="866" r:id="rId19"/>
    <p:sldId id="867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8003" autoAdjust="0"/>
    <p:restoredTop sz="94660"/>
  </p:normalViewPr>
  <p:slideViewPr>
    <p:cSldViewPr snapToGrid="0" showGuides="1">
      <p:cViewPr varScale="1">
        <p:scale>
          <a:sx n="89" d="100"/>
          <a:sy n="89" d="100"/>
        </p:scale>
        <p:origin x="-474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A8EE4B-F10A-4E13-A8F8-9488859D396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D1F6FD-2816-45BC-AF12-F4C1CEF577B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A473A548-28B4-4FCC-AC01-9DB316A0A975}" type="slidenum">
              <a:rPr lang="en-US" altLang="zh-CN"/>
            </a:fld>
            <a:endParaRPr lang="en-US" altLang="zh-CN"/>
          </a:p>
        </p:txBody>
      </p:sp>
      <p:sp>
        <p:nvSpPr>
          <p:cNvPr id="626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26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B3EEEB0C-AF53-4E00-A024-F2160432CC59}" type="slidenum">
              <a:rPr lang="en-US" altLang="zh-CN"/>
            </a:fld>
            <a:endParaRPr lang="en-US" altLang="zh-CN"/>
          </a:p>
        </p:txBody>
      </p:sp>
      <p:sp>
        <p:nvSpPr>
          <p:cNvPr id="6103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103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1908EADD-6AD5-4D82-9145-B3A28C33FE5C}" type="slidenum">
              <a:rPr lang="en-US" altLang="zh-CN"/>
            </a:fld>
            <a:endParaRPr lang="en-US" altLang="zh-CN"/>
          </a:p>
        </p:txBody>
      </p:sp>
      <p:sp>
        <p:nvSpPr>
          <p:cNvPr id="613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13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4756A-7F89-430C-8FB9-883CF12FD61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98286-FD2A-4558-8EDF-4A35D054374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4756A-7F89-430C-8FB9-883CF12FD61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98286-FD2A-4558-8EDF-4A35D054374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4756A-7F89-430C-8FB9-883CF12FD61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98286-FD2A-4558-8EDF-4A35D054374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4756A-7F89-430C-8FB9-883CF12FD61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98286-FD2A-4558-8EDF-4A35D054374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4756A-7F89-430C-8FB9-883CF12FD619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98286-FD2A-4558-8EDF-4A35D054374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4756A-7F89-430C-8FB9-883CF12FD61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98286-FD2A-4558-8EDF-4A35D054374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4756A-7F89-430C-8FB9-883CF12FD61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98286-FD2A-4558-8EDF-4A35D054374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4756A-7F89-430C-8FB9-883CF12FD61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98286-FD2A-4558-8EDF-4A35D054374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4756A-7F89-430C-8FB9-883CF12FD61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98286-FD2A-4558-8EDF-4A35D054374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4756A-7F89-430C-8FB9-883CF12FD61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98286-FD2A-4558-8EDF-4A35D054374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4756A-7F89-430C-8FB9-883CF12FD61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98286-FD2A-4558-8EDF-4A35D054374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7933" y="228600"/>
            <a:ext cx="11387667" cy="114300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812800" y="1600200"/>
            <a:ext cx="10871200" cy="4498975"/>
          </a:xfrm>
        </p:spPr>
        <p:txBody>
          <a:bodyPr rtlCol="0">
            <a:normAutofit/>
          </a:bodyPr>
          <a:lstStyle/>
          <a:p>
            <a:pPr lvl="0"/>
            <a:endParaRPr lang="zh-CN" altLang="en-US" noProof="0"/>
          </a:p>
        </p:txBody>
      </p:sp>
      <p:sp>
        <p:nvSpPr>
          <p:cNvPr id="4" name="Rectangle 25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DC5958-C7F7-4EC3-8217-BE80D7CA816F}" type="datetime3">
              <a:rPr lang="zh-CN" altLang="en-US"/>
            </a:fld>
            <a:endParaRPr lang="en-US" altLang="zh-CN"/>
          </a:p>
        </p:txBody>
      </p:sp>
      <p:sp>
        <p:nvSpPr>
          <p:cNvPr id="5" name="Rectangle 25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25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378EEB-57AE-4407-8978-78A58530AFA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7933" y="228600"/>
            <a:ext cx="11387667" cy="114300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12800" y="1600200"/>
            <a:ext cx="5334000" cy="4498975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50000" y="1600200"/>
            <a:ext cx="5334000" cy="4498975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Rectangle 25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839D87-B13E-4B53-B6AF-A92C81162D6B}" type="datetime3">
              <a:rPr lang="zh-CN" altLang="en-US"/>
            </a:fld>
            <a:endParaRPr lang="en-US" altLang="zh-CN"/>
          </a:p>
        </p:txBody>
      </p:sp>
      <p:sp>
        <p:nvSpPr>
          <p:cNvPr id="6" name="Rectangle 25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25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EC13C63-45D7-4F7D-B5B6-0C89B0789F4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64756A-7F89-430C-8FB9-883CF12FD61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498286-FD2A-4558-8EDF-4A35D054374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e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e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e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e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e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e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e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e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F0000"/>
                </a:solidFill>
                <a:sym typeface="+mn-ea"/>
              </a:rPr>
              <a:t>实验</a:t>
            </a:r>
            <a:r>
              <a:rPr lang="en-US" altLang="zh-CN" b="1" dirty="0">
                <a:solidFill>
                  <a:srgbClr val="FF0000"/>
                </a:solidFill>
                <a:sym typeface="+mn-ea"/>
              </a:rPr>
              <a:t>2</a:t>
            </a:r>
            <a:r>
              <a:rPr lang="zh-CN" altLang="en-US" b="1" dirty="0">
                <a:solidFill>
                  <a:srgbClr val="FF0000"/>
                </a:solidFill>
                <a:sym typeface="+mn-ea"/>
              </a:rPr>
              <a:t>：</a:t>
            </a:r>
            <a:r>
              <a:rPr lang="en-US" altLang="zh-CN" b="1" dirty="0">
                <a:solidFill>
                  <a:schemeClr val="tx1"/>
                </a:solidFill>
                <a:sym typeface="+mn-ea"/>
              </a:rPr>
              <a:t>IP</a:t>
            </a:r>
            <a:r>
              <a:rPr lang="zh-CN" altLang="en-US" b="1" dirty="0">
                <a:solidFill>
                  <a:schemeClr val="tx1"/>
                </a:solidFill>
                <a:sym typeface="+mn-ea"/>
              </a:rPr>
              <a:t>分片、</a:t>
            </a:r>
            <a:r>
              <a:rPr lang="en-US" altLang="zh-CN" b="1" dirty="0">
                <a:solidFill>
                  <a:schemeClr val="tx1"/>
                </a:solidFill>
                <a:sym typeface="+mn-ea"/>
              </a:rPr>
              <a:t>IPv6</a:t>
            </a:r>
            <a:r>
              <a:rPr lang="en-US" altLang="zh-CN" dirty="0"/>
              <a:t> 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B3595-66ED-4F96-B507-CDC1858782E2}" type="slidenum">
              <a:rPr lang="en-US" altLang="zh-CN"/>
            </a:fld>
            <a:endParaRPr lang="en-US" altLang="zh-CN"/>
          </a:p>
        </p:txBody>
      </p:sp>
      <p:sp>
        <p:nvSpPr>
          <p:cNvPr id="464898" name="Rectangle 2"/>
          <p:cNvSpPr>
            <a:spLocks noGrp="1" noChangeArrowheads="1"/>
          </p:cNvSpPr>
          <p:nvPr>
            <p:ph type="title"/>
          </p:nvPr>
        </p:nvSpPr>
        <p:spPr>
          <a:xfrm>
            <a:off x="1822450" y="228600"/>
            <a:ext cx="8540750" cy="531810"/>
          </a:xfrm>
        </p:spPr>
        <p:txBody>
          <a:bodyPr>
            <a:normAutofit fontScale="90000"/>
          </a:bodyPr>
          <a:lstStyle/>
          <a:p>
            <a:r>
              <a:rPr lang="en-US" altLang="zh-CN" sz="4000" b="1" dirty="0">
                <a:solidFill>
                  <a:srgbClr val="C00000"/>
                </a:solidFill>
              </a:rPr>
              <a:t>IPv4</a:t>
            </a:r>
            <a:r>
              <a:rPr lang="zh-CN" altLang="en-US" sz="4000" b="1" dirty="0">
                <a:solidFill>
                  <a:srgbClr val="C00000"/>
                </a:solidFill>
              </a:rPr>
              <a:t>报文格式</a:t>
            </a:r>
            <a:endParaRPr lang="zh-CN" altLang="en-US" sz="4000" b="1" dirty="0">
              <a:solidFill>
                <a:srgbClr val="C00000"/>
              </a:solidFill>
            </a:endParaRPr>
          </a:p>
        </p:txBody>
      </p:sp>
      <p:graphicFrame>
        <p:nvGraphicFramePr>
          <p:cNvPr id="465395" name="Group 499"/>
          <p:cNvGraphicFramePr>
            <a:graphicFrameLocks noGrp="1"/>
          </p:cNvGraphicFramePr>
          <p:nvPr>
            <p:ph idx="1"/>
          </p:nvPr>
        </p:nvGraphicFramePr>
        <p:xfrm>
          <a:off x="1847850" y="1476375"/>
          <a:ext cx="8497888" cy="4688338"/>
        </p:xfrm>
        <a:graphic>
          <a:graphicData uri="http://schemas.openxmlformats.org/drawingml/2006/table">
            <a:tbl>
              <a:tblPr/>
              <a:tblGrid>
                <a:gridCol w="1063625"/>
                <a:gridCol w="1060450"/>
                <a:gridCol w="2125663"/>
                <a:gridCol w="847725"/>
                <a:gridCol w="3400425"/>
              </a:tblGrid>
              <a:tr h="4540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版本号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4b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报头长度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4b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服务类型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TOS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8b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总长度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(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字节数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)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16b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</a:tr>
              <a:tr h="450850">
                <a:tc grid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标识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16b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标志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3b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偏移量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13b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4025"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生存时间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TTL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8b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协议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8b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报头校验和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16b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</a:tr>
              <a:tr h="450850">
                <a:tc gridSpan="5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源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IP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地址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32b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454025">
                <a:tc gridSpan="5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目的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IP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地址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32b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450850">
                <a:tc gridSpan="5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选项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（如果有）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908050">
                <a:tc gridSpan="5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数据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465374" name="Text Box 478"/>
          <p:cNvSpPr txBox="1">
            <a:spLocks noChangeArrowheads="1"/>
          </p:cNvSpPr>
          <p:nvPr/>
        </p:nvSpPr>
        <p:spPr bwMode="auto">
          <a:xfrm>
            <a:off x="1738314" y="1125539"/>
            <a:ext cx="3254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/>
              <a:t>0</a:t>
            </a:r>
            <a:endParaRPr lang="en-US" altLang="zh-CN" sz="2000"/>
          </a:p>
        </p:txBody>
      </p:sp>
      <p:sp>
        <p:nvSpPr>
          <p:cNvPr id="465375" name="Text Box 479"/>
          <p:cNvSpPr txBox="1">
            <a:spLocks noChangeArrowheads="1"/>
          </p:cNvSpPr>
          <p:nvPr/>
        </p:nvSpPr>
        <p:spPr bwMode="auto">
          <a:xfrm>
            <a:off x="5664200" y="1125539"/>
            <a:ext cx="819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000"/>
              <a:t>15 16</a:t>
            </a:r>
            <a:endParaRPr lang="en-US" altLang="zh-CN" sz="2000"/>
          </a:p>
        </p:txBody>
      </p:sp>
      <p:sp>
        <p:nvSpPr>
          <p:cNvPr id="465377" name="Text Box 481"/>
          <p:cNvSpPr txBox="1">
            <a:spLocks noChangeArrowheads="1"/>
          </p:cNvSpPr>
          <p:nvPr/>
        </p:nvSpPr>
        <p:spPr bwMode="auto">
          <a:xfrm>
            <a:off x="10021889" y="1125539"/>
            <a:ext cx="4667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zh-CN" sz="2000"/>
              <a:t>31</a:t>
            </a:r>
            <a:endParaRPr lang="en-US" altLang="zh-CN" sz="2000"/>
          </a:p>
        </p:txBody>
      </p:sp>
      <p:sp>
        <p:nvSpPr>
          <p:cNvPr id="465396" name="Text Box 500"/>
          <p:cNvSpPr txBox="1">
            <a:spLocks noChangeArrowheads="1"/>
          </p:cNvSpPr>
          <p:nvPr/>
        </p:nvSpPr>
        <p:spPr bwMode="auto">
          <a:xfrm>
            <a:off x="1689100" y="4724400"/>
            <a:ext cx="3508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>
                <a:sym typeface="Symbol" panose="05050102010706020507" pitchFamily="18" charset="2"/>
              </a:rPr>
              <a:t></a:t>
            </a:r>
            <a:endParaRPr lang="en-US" altLang="zh-CN" sz="2400">
              <a:sym typeface="Symbol" panose="05050102010706020507" pitchFamily="18" charset="2"/>
            </a:endParaRPr>
          </a:p>
        </p:txBody>
      </p:sp>
      <p:sp>
        <p:nvSpPr>
          <p:cNvPr id="465397" name="Text Box 501"/>
          <p:cNvSpPr txBox="1">
            <a:spLocks noChangeArrowheads="1"/>
          </p:cNvSpPr>
          <p:nvPr/>
        </p:nvSpPr>
        <p:spPr bwMode="auto">
          <a:xfrm>
            <a:off x="1679575" y="5445125"/>
            <a:ext cx="3508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>
                <a:sym typeface="Symbol" panose="05050102010706020507" pitchFamily="18" charset="2"/>
              </a:rPr>
              <a:t></a:t>
            </a:r>
            <a:endParaRPr lang="en-US" altLang="zh-CN" sz="2400">
              <a:sym typeface="Symbol" panose="05050102010706020507" pitchFamily="18" charset="2"/>
            </a:endParaRPr>
          </a:p>
        </p:txBody>
      </p:sp>
      <p:sp>
        <p:nvSpPr>
          <p:cNvPr id="465398" name="Text Box 502"/>
          <p:cNvSpPr txBox="1">
            <a:spLocks noChangeArrowheads="1"/>
          </p:cNvSpPr>
          <p:nvPr/>
        </p:nvSpPr>
        <p:spPr bwMode="auto">
          <a:xfrm>
            <a:off x="10175875" y="4724400"/>
            <a:ext cx="3508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>
                <a:sym typeface="Symbol" panose="05050102010706020507" pitchFamily="18" charset="2"/>
              </a:rPr>
              <a:t></a:t>
            </a:r>
            <a:endParaRPr lang="en-US" altLang="zh-CN" sz="2400">
              <a:sym typeface="Symbol" panose="05050102010706020507" pitchFamily="18" charset="2"/>
            </a:endParaRPr>
          </a:p>
        </p:txBody>
      </p:sp>
      <p:sp>
        <p:nvSpPr>
          <p:cNvPr id="465399" name="Text Box 503"/>
          <p:cNvSpPr txBox="1">
            <a:spLocks noChangeArrowheads="1"/>
          </p:cNvSpPr>
          <p:nvPr/>
        </p:nvSpPr>
        <p:spPr bwMode="auto">
          <a:xfrm>
            <a:off x="10166350" y="5445125"/>
            <a:ext cx="3508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>
                <a:sym typeface="Symbol" panose="05050102010706020507" pitchFamily="18" charset="2"/>
              </a:rPr>
              <a:t></a:t>
            </a:r>
            <a:endParaRPr lang="en-US" altLang="zh-CN" sz="2400">
              <a:sym typeface="Symbol" panose="05050102010706020507" pitchFamily="18" charset="2"/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1668141" y="856581"/>
            <a:ext cx="8820472" cy="0"/>
          </a:xfrm>
          <a:prstGeom prst="line">
            <a:avLst/>
          </a:prstGeom>
          <a:ln>
            <a:gradFill flip="none" rotWithShape="1">
              <a:gsLst>
                <a:gs pos="0">
                  <a:srgbClr val="FFF200"/>
                </a:gs>
                <a:gs pos="45000">
                  <a:srgbClr val="FF7A00"/>
                </a:gs>
                <a:gs pos="70000">
                  <a:srgbClr val="FF0300"/>
                </a:gs>
                <a:gs pos="100000">
                  <a:srgbClr val="4D0808"/>
                </a:gs>
              </a:gsLst>
              <a:lin ang="10800000" scaled="1"/>
              <a:tileRect/>
            </a:gra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7" name="页脚占位符 3"/>
          <p:cNvSpPr>
            <a:spLocks noGrp="1"/>
          </p:cNvSpPr>
          <p:nvPr>
            <p:ph type="ftr" sz="quarter" idx="11"/>
          </p:nvPr>
        </p:nvSpPr>
        <p:spPr>
          <a:xfrm>
            <a:off x="1524000" y="6492876"/>
            <a:ext cx="9144000" cy="365125"/>
          </a:xfrm>
          <a:solidFill>
            <a:schemeClr val="accent2">
              <a:lumMod val="75000"/>
            </a:schemeClr>
          </a:solidFill>
          <a:ln w="0"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400" b="1">
                <a:latin typeface="华文行楷" panose="02010800040101010101" pitchFamily="2" charset="-122"/>
                <a:ea typeface="华文行楷" panose="02010800040101010101" pitchFamily="2" charset="-122"/>
              </a:rPr>
              <a:t> </a:t>
            </a:r>
            <a:endParaRPr lang="zh-CN" altLang="en-US" sz="1400" b="1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A90E0-9E77-4DF9-BBBF-1D6C62744F1B}" type="slidenum">
              <a:rPr lang="en-US" altLang="zh-CN"/>
            </a:fld>
            <a:endParaRPr lang="en-US" altLang="zh-CN"/>
          </a:p>
        </p:txBody>
      </p:sp>
      <p:sp>
        <p:nvSpPr>
          <p:cNvPr id="467970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-20637"/>
            <a:ext cx="8229600" cy="1143000"/>
          </a:xfrm>
        </p:spPr>
        <p:txBody>
          <a:bodyPr/>
          <a:lstStyle/>
          <a:p>
            <a:r>
              <a:rPr lang="en-US" altLang="zh-CN" sz="4000" b="1" dirty="0">
                <a:solidFill>
                  <a:srgbClr val="C00000"/>
                </a:solidFill>
              </a:rPr>
              <a:t>IPv4</a:t>
            </a:r>
            <a:r>
              <a:rPr lang="zh-CN" altLang="en-US" sz="4000" b="1" dirty="0">
                <a:solidFill>
                  <a:srgbClr val="C00000"/>
                </a:solidFill>
              </a:rPr>
              <a:t>报文格式</a:t>
            </a:r>
            <a:r>
              <a:rPr lang="en-US" altLang="zh-CN" sz="4000" b="1" dirty="0">
                <a:solidFill>
                  <a:srgbClr val="C00000"/>
                </a:solidFill>
              </a:rPr>
              <a:t>(1)</a:t>
            </a:r>
            <a:endParaRPr lang="en-US" altLang="zh-CN" sz="4000" b="1" dirty="0">
              <a:solidFill>
                <a:srgbClr val="C00000"/>
              </a:solidFill>
            </a:endParaRPr>
          </a:p>
        </p:txBody>
      </p:sp>
      <p:sp>
        <p:nvSpPr>
          <p:cNvPr id="4679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82306" y="3841750"/>
            <a:ext cx="8390158" cy="2151980"/>
          </a:xfrm>
        </p:spPr>
        <p:txBody>
          <a:bodyPr/>
          <a:lstStyle/>
          <a:p>
            <a:pPr>
              <a:lnSpc>
                <a:spcPct val="90000"/>
              </a:lnSpc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版本号</a:t>
            </a:r>
            <a:r>
              <a:rPr lang="en-US" altLang="zh-CN" sz="3000" dirty="0">
                <a:latin typeface="楷体" panose="02010609060101010101" pitchFamily="49" charset="-122"/>
                <a:ea typeface="楷体" panose="02010609060101010101" pitchFamily="49" charset="-122"/>
              </a:rPr>
              <a:t>(4)</a:t>
            </a: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：目前</a:t>
            </a:r>
            <a:r>
              <a:rPr lang="en-US" altLang="zh-CN" sz="3000" dirty="0">
                <a:latin typeface="楷体" panose="02010609060101010101" pitchFamily="49" charset="-122"/>
                <a:ea typeface="楷体" panose="02010609060101010101" pitchFamily="49" charset="-122"/>
              </a:rPr>
              <a:t>IP</a:t>
            </a: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协议的版本号为</a:t>
            </a:r>
            <a:r>
              <a:rPr lang="en-US" altLang="zh-CN" sz="3000" dirty="0"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；它正逐渐地被</a:t>
            </a:r>
            <a:r>
              <a:rPr lang="en-US" altLang="zh-CN" sz="3000" dirty="0">
                <a:latin typeface="楷体" panose="02010609060101010101" pitchFamily="49" charset="-122"/>
                <a:ea typeface="楷体" panose="02010609060101010101" pitchFamily="49" charset="-122"/>
              </a:rPr>
              <a:t>IPv6</a:t>
            </a: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版本所替代。 </a:t>
            </a:r>
            <a:endParaRPr lang="zh-CN" altLang="en-US" sz="3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90000"/>
              </a:lnSpc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报头长度</a:t>
            </a:r>
            <a:r>
              <a:rPr lang="en-US" altLang="zh-CN" sz="3000" dirty="0">
                <a:latin typeface="楷体" panose="02010609060101010101" pitchFamily="49" charset="-122"/>
                <a:ea typeface="楷体" panose="02010609060101010101" pitchFamily="49" charset="-122"/>
              </a:rPr>
              <a:t>(4)</a:t>
            </a: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：报头占</a:t>
            </a:r>
            <a:r>
              <a:rPr lang="en-US" altLang="zh-CN" sz="3000" dirty="0">
                <a:latin typeface="楷体" panose="02010609060101010101" pitchFamily="49" charset="-122"/>
                <a:ea typeface="楷体" panose="02010609060101010101" pitchFamily="49" charset="-122"/>
              </a:rPr>
              <a:t>32</a:t>
            </a: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位的数量</a:t>
            </a:r>
            <a:r>
              <a:rPr lang="en-US" altLang="zh-CN" sz="3000" dirty="0"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一般是</a:t>
            </a:r>
            <a:r>
              <a:rPr lang="en-US" altLang="zh-CN" sz="3000" dirty="0">
                <a:latin typeface="楷体" panose="02010609060101010101" pitchFamily="49" charset="-122"/>
                <a:ea typeface="楷体" panose="02010609060101010101" pitchFamily="49" charset="-122"/>
              </a:rPr>
              <a:t>20</a:t>
            </a: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字节</a:t>
            </a:r>
            <a:r>
              <a:rPr lang="en-US" altLang="zh-CN" sz="3000" dirty="0"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即该字段的值为</a:t>
            </a:r>
            <a:r>
              <a:rPr lang="en-US" altLang="zh-CN" sz="3000" dirty="0">
                <a:latin typeface="楷体" panose="02010609060101010101" pitchFamily="49" charset="-122"/>
                <a:ea typeface="楷体" panose="02010609060101010101" pitchFamily="49" charset="-122"/>
              </a:rPr>
              <a:t>5)</a:t>
            </a: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。报头最长</a:t>
            </a:r>
            <a:r>
              <a:rPr lang="en-US" altLang="zh-CN" sz="3000" dirty="0">
                <a:latin typeface="楷体" panose="02010609060101010101" pitchFamily="49" charset="-122"/>
                <a:ea typeface="楷体" panose="02010609060101010101" pitchFamily="49" charset="-122"/>
              </a:rPr>
              <a:t>60B</a:t>
            </a: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zh-CN" altLang="en-US" sz="3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467999" name="Picture 31" descr="Picture1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050" y="1170343"/>
            <a:ext cx="8089900" cy="2434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68000" name="Rectangle 32"/>
          <p:cNvSpPr>
            <a:spLocks noChangeArrowheads="1"/>
          </p:cNvSpPr>
          <p:nvPr/>
        </p:nvSpPr>
        <p:spPr bwMode="auto">
          <a:xfrm>
            <a:off x="2129633" y="1280000"/>
            <a:ext cx="865187" cy="287337"/>
          </a:xfrm>
          <a:prstGeom prst="rect">
            <a:avLst/>
          </a:prstGeom>
          <a:noFill/>
          <a:ln w="28575" algn="ctr">
            <a:solidFill>
              <a:srgbClr val="FF33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/>
          </a:p>
        </p:txBody>
      </p:sp>
      <p:sp>
        <p:nvSpPr>
          <p:cNvPr id="468001" name="Rectangle 33"/>
          <p:cNvSpPr>
            <a:spLocks noChangeArrowheads="1"/>
          </p:cNvSpPr>
          <p:nvPr/>
        </p:nvSpPr>
        <p:spPr bwMode="auto">
          <a:xfrm>
            <a:off x="3143672" y="1289687"/>
            <a:ext cx="865188" cy="287337"/>
          </a:xfrm>
          <a:prstGeom prst="rect">
            <a:avLst/>
          </a:prstGeom>
          <a:noFill/>
          <a:ln w="28575" algn="ctr">
            <a:solidFill>
              <a:srgbClr val="FF33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/>
          </a:p>
        </p:txBody>
      </p:sp>
      <p:sp>
        <p:nvSpPr>
          <p:cNvPr id="468002" name="Rectangle 34"/>
          <p:cNvSpPr>
            <a:spLocks noChangeArrowheads="1"/>
          </p:cNvSpPr>
          <p:nvPr/>
        </p:nvSpPr>
        <p:spPr bwMode="auto">
          <a:xfrm>
            <a:off x="1558926" y="6597650"/>
            <a:ext cx="2339975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r>
              <a:rPr lang="en-US" altLang="zh-CN" sz="1400">
                <a:solidFill>
                  <a:schemeClr val="bg2"/>
                </a:solidFill>
              </a:rPr>
              <a:t>IP</a:t>
            </a:r>
            <a:r>
              <a:rPr lang="zh-CN" altLang="en-US" sz="1400">
                <a:solidFill>
                  <a:schemeClr val="bg2"/>
                </a:solidFill>
              </a:rPr>
              <a:t>报文格式</a:t>
            </a:r>
            <a:endParaRPr lang="zh-CN" altLang="en-US" sz="1400">
              <a:solidFill>
                <a:schemeClr val="bg2"/>
              </a:solidFill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1698464" y="908720"/>
            <a:ext cx="8820472" cy="0"/>
          </a:xfrm>
          <a:prstGeom prst="line">
            <a:avLst/>
          </a:prstGeom>
          <a:ln>
            <a:gradFill flip="none" rotWithShape="1">
              <a:gsLst>
                <a:gs pos="0">
                  <a:srgbClr val="FFF200"/>
                </a:gs>
                <a:gs pos="45000">
                  <a:srgbClr val="FF7A00"/>
                </a:gs>
                <a:gs pos="70000">
                  <a:srgbClr val="FF0300"/>
                </a:gs>
                <a:gs pos="100000">
                  <a:srgbClr val="4D0808"/>
                </a:gs>
              </a:gsLst>
              <a:lin ang="10800000" scaled="1"/>
              <a:tileRect/>
            </a:gra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86BC5-7093-47CE-BC0B-77D7CECF45A3}" type="slidenum">
              <a:rPr lang="en-US" altLang="zh-CN"/>
            </a:fld>
            <a:endParaRPr lang="en-US" altLang="zh-CN"/>
          </a:p>
        </p:txBody>
      </p:sp>
      <p:sp>
        <p:nvSpPr>
          <p:cNvPr id="614402" name="Rectangle 2"/>
          <p:cNvSpPr>
            <a:spLocks noGrp="1" noChangeArrowheads="1"/>
          </p:cNvSpPr>
          <p:nvPr>
            <p:ph type="title"/>
          </p:nvPr>
        </p:nvSpPr>
        <p:spPr>
          <a:xfrm>
            <a:off x="1590675" y="-129715"/>
            <a:ext cx="8229600" cy="1143000"/>
          </a:xfrm>
        </p:spPr>
        <p:txBody>
          <a:bodyPr/>
          <a:lstStyle/>
          <a:p>
            <a:r>
              <a:rPr lang="en-US" altLang="zh-CN" sz="4000" b="1" dirty="0">
                <a:solidFill>
                  <a:srgbClr val="C00000"/>
                </a:solidFill>
              </a:rPr>
              <a:t>IPv4</a:t>
            </a:r>
            <a:r>
              <a:rPr lang="zh-CN" altLang="en-US" sz="4000" b="1" dirty="0">
                <a:solidFill>
                  <a:srgbClr val="C00000"/>
                </a:solidFill>
              </a:rPr>
              <a:t>报文格式</a:t>
            </a:r>
            <a:r>
              <a:rPr lang="en-US" altLang="zh-CN" sz="4000" b="1" dirty="0">
                <a:solidFill>
                  <a:srgbClr val="C00000"/>
                </a:solidFill>
              </a:rPr>
              <a:t>(2)</a:t>
            </a:r>
            <a:endParaRPr lang="en-US" altLang="zh-CN" sz="4000" b="1" dirty="0">
              <a:solidFill>
                <a:srgbClr val="C00000"/>
              </a:solidFill>
            </a:endParaRPr>
          </a:p>
        </p:txBody>
      </p:sp>
      <p:sp>
        <p:nvSpPr>
          <p:cNvPr id="6144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74825" y="2998649"/>
            <a:ext cx="8642350" cy="3317655"/>
          </a:xfrm>
        </p:spPr>
        <p:txBody>
          <a:bodyPr/>
          <a:lstStyle/>
          <a:p>
            <a:pPr>
              <a:lnSpc>
                <a:spcPct val="90000"/>
              </a:lnSpc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服务类型</a:t>
            </a:r>
            <a:r>
              <a:rPr lang="en-US" altLang="zh-CN" sz="3000" dirty="0">
                <a:latin typeface="楷体" panose="02010609060101010101" pitchFamily="49" charset="-122"/>
                <a:ea typeface="楷体" panose="02010609060101010101" pitchFamily="49" charset="-122"/>
              </a:rPr>
              <a:t>(8)</a:t>
            </a: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： 旧标准称为服务类型，但实际上一直未使用。</a:t>
            </a:r>
            <a:endParaRPr lang="zh-CN" altLang="en-US" sz="3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/>
            <a:r>
              <a:rPr lang="en-US" altLang="zh-CN" dirty="0"/>
              <a:t>RFC2474</a:t>
            </a:r>
            <a:r>
              <a:rPr lang="zh-CN" altLang="en-US" dirty="0"/>
              <a:t>重新定义为区分服务。</a:t>
            </a:r>
            <a:r>
              <a:rPr lang="en-US" altLang="zh-CN" dirty="0"/>
              <a:t>3</a:t>
            </a:r>
            <a:r>
              <a:rPr lang="zh-CN" altLang="en-US" dirty="0"/>
              <a:t>比特指明优先顺序，</a:t>
            </a:r>
            <a:r>
              <a:rPr lang="en-US" altLang="zh-CN" dirty="0"/>
              <a:t>3</a:t>
            </a:r>
            <a:r>
              <a:rPr lang="zh-CN" altLang="en-US" dirty="0"/>
              <a:t>比特指明标志位</a:t>
            </a:r>
            <a:r>
              <a:rPr lang="en-US" altLang="zh-CN" dirty="0"/>
              <a:t>D/T/R</a:t>
            </a:r>
            <a:r>
              <a:rPr lang="zh-CN" altLang="en-US" dirty="0"/>
              <a:t>，</a:t>
            </a:r>
            <a:r>
              <a:rPr lang="en-US" altLang="zh-CN" dirty="0"/>
              <a:t>2</a:t>
            </a:r>
            <a:r>
              <a:rPr lang="zh-CN" altLang="en-US" dirty="0"/>
              <a:t>比特未用。</a:t>
            </a:r>
            <a:endParaRPr lang="zh-CN" altLang="en-US" dirty="0"/>
          </a:p>
          <a:p>
            <a:pPr lvl="2"/>
            <a:r>
              <a:rPr lang="en-US" altLang="zh-CN" dirty="0"/>
              <a:t>D</a:t>
            </a:r>
            <a:r>
              <a:rPr lang="zh-CN" altLang="en-US" dirty="0"/>
              <a:t>：</a:t>
            </a:r>
            <a:r>
              <a:rPr lang="en-US" altLang="zh-CN" dirty="0"/>
              <a:t>Delay(</a:t>
            </a:r>
            <a:r>
              <a:rPr lang="zh-CN" altLang="en-US" dirty="0"/>
              <a:t>低延迟</a:t>
            </a:r>
            <a:r>
              <a:rPr lang="en-US" altLang="zh-CN" dirty="0"/>
              <a:t>)</a:t>
            </a:r>
            <a:endParaRPr lang="en-US" altLang="zh-CN" dirty="0"/>
          </a:p>
          <a:p>
            <a:pPr lvl="2"/>
            <a:r>
              <a:rPr lang="en-US" altLang="zh-CN" dirty="0"/>
              <a:t>T</a:t>
            </a:r>
            <a:r>
              <a:rPr lang="zh-CN" altLang="en-US" dirty="0"/>
              <a:t>：</a:t>
            </a:r>
            <a:r>
              <a:rPr lang="en-US" altLang="zh-CN" dirty="0"/>
              <a:t>Throughput(</a:t>
            </a:r>
            <a:r>
              <a:rPr lang="zh-CN" altLang="en-US" dirty="0"/>
              <a:t>高吞吐率</a:t>
            </a:r>
            <a:r>
              <a:rPr lang="en-US" altLang="zh-CN" dirty="0"/>
              <a:t>)</a:t>
            </a:r>
            <a:endParaRPr lang="en-US" altLang="zh-CN" dirty="0"/>
          </a:p>
          <a:p>
            <a:pPr lvl="2"/>
            <a:r>
              <a:rPr lang="en-US" altLang="zh-CN" dirty="0"/>
              <a:t>R</a:t>
            </a:r>
            <a:r>
              <a:rPr lang="zh-CN" altLang="en-US" dirty="0"/>
              <a:t>：</a:t>
            </a:r>
            <a:r>
              <a:rPr lang="en-US" altLang="zh-CN" dirty="0"/>
              <a:t>Reliability(</a:t>
            </a:r>
            <a:r>
              <a:rPr lang="zh-CN" altLang="en-US" dirty="0"/>
              <a:t>高可靠性</a:t>
            </a:r>
            <a:r>
              <a:rPr lang="en-US" altLang="zh-CN" dirty="0"/>
              <a:t>)</a:t>
            </a:r>
            <a:endParaRPr lang="en-US" altLang="zh-CN" dirty="0"/>
          </a:p>
        </p:txBody>
      </p:sp>
      <p:pic>
        <p:nvPicPr>
          <p:cNvPr id="614404" name="Picture 4" descr="Picture1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050" y="1102821"/>
            <a:ext cx="8089900" cy="1759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4405" name="Rectangle 5"/>
          <p:cNvSpPr>
            <a:spLocks noChangeArrowheads="1"/>
          </p:cNvSpPr>
          <p:nvPr/>
        </p:nvSpPr>
        <p:spPr bwMode="auto">
          <a:xfrm>
            <a:off x="4151313" y="1125539"/>
            <a:ext cx="1873250" cy="287337"/>
          </a:xfrm>
          <a:prstGeom prst="rect">
            <a:avLst/>
          </a:prstGeom>
          <a:noFill/>
          <a:ln w="28575" algn="ctr">
            <a:solidFill>
              <a:srgbClr val="FF33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/>
          </a:p>
        </p:txBody>
      </p:sp>
      <p:sp>
        <p:nvSpPr>
          <p:cNvPr id="614406" name="Rectangle 6"/>
          <p:cNvSpPr>
            <a:spLocks noChangeArrowheads="1"/>
          </p:cNvSpPr>
          <p:nvPr/>
        </p:nvSpPr>
        <p:spPr bwMode="auto">
          <a:xfrm>
            <a:off x="1558926" y="6597650"/>
            <a:ext cx="2339975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r>
              <a:rPr lang="en-US" altLang="zh-CN" sz="1400">
                <a:solidFill>
                  <a:schemeClr val="bg2"/>
                </a:solidFill>
              </a:rPr>
              <a:t>IP</a:t>
            </a:r>
            <a:r>
              <a:rPr lang="zh-CN" altLang="en-US" sz="1400">
                <a:solidFill>
                  <a:schemeClr val="bg2"/>
                </a:solidFill>
              </a:rPr>
              <a:t>报文格式</a:t>
            </a:r>
            <a:endParaRPr lang="zh-CN" altLang="en-US" sz="1400">
              <a:solidFill>
                <a:schemeClr val="bg2"/>
              </a:solidFill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1780853" y="836712"/>
            <a:ext cx="8820472" cy="0"/>
          </a:xfrm>
          <a:prstGeom prst="line">
            <a:avLst/>
          </a:prstGeom>
          <a:ln>
            <a:gradFill flip="none" rotWithShape="1">
              <a:gsLst>
                <a:gs pos="0">
                  <a:srgbClr val="FFF200"/>
                </a:gs>
                <a:gs pos="45000">
                  <a:srgbClr val="FF7A00"/>
                </a:gs>
                <a:gs pos="70000">
                  <a:srgbClr val="FF0300"/>
                </a:gs>
                <a:gs pos="100000">
                  <a:srgbClr val="4D0808"/>
                </a:gs>
              </a:gsLst>
              <a:lin ang="10800000" scaled="1"/>
              <a:tileRect/>
            </a:gra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916F6-2824-4CBE-A539-E86BF5A3F295}" type="slidenum">
              <a:rPr lang="en-US" altLang="zh-CN"/>
            </a:fld>
            <a:endParaRPr lang="en-US" altLang="zh-CN"/>
          </a:p>
        </p:txBody>
      </p:sp>
      <p:sp>
        <p:nvSpPr>
          <p:cNvPr id="468994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-161925"/>
            <a:ext cx="8229600" cy="1143000"/>
          </a:xfrm>
        </p:spPr>
        <p:txBody>
          <a:bodyPr/>
          <a:lstStyle/>
          <a:p>
            <a:r>
              <a:rPr lang="en-US" altLang="zh-CN" sz="4000" b="1" dirty="0">
                <a:solidFill>
                  <a:srgbClr val="C00000"/>
                </a:solidFill>
              </a:rPr>
              <a:t>IPv4</a:t>
            </a:r>
            <a:r>
              <a:rPr lang="zh-CN" altLang="en-US" sz="4000" b="1" dirty="0">
                <a:solidFill>
                  <a:srgbClr val="C00000"/>
                </a:solidFill>
              </a:rPr>
              <a:t>报文格式</a:t>
            </a:r>
            <a:r>
              <a:rPr lang="en-US" altLang="zh-CN" sz="4000" b="1" dirty="0">
                <a:solidFill>
                  <a:srgbClr val="C00000"/>
                </a:solidFill>
              </a:rPr>
              <a:t>(3)</a:t>
            </a:r>
            <a:endParaRPr lang="en-US" altLang="zh-CN" sz="4000" b="1" dirty="0">
              <a:solidFill>
                <a:srgbClr val="C00000"/>
              </a:solidFill>
            </a:endParaRPr>
          </a:p>
        </p:txBody>
      </p:sp>
      <p:sp>
        <p:nvSpPr>
          <p:cNvPr id="4689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74825" y="3626520"/>
            <a:ext cx="8642350" cy="2250752"/>
          </a:xfrm>
        </p:spPr>
        <p:txBody>
          <a:bodyPr/>
          <a:lstStyle/>
          <a:p>
            <a:pPr>
              <a:lnSpc>
                <a:spcPct val="90000"/>
              </a:lnSpc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总长度</a:t>
            </a:r>
            <a:r>
              <a:rPr lang="en-US" altLang="zh-CN" sz="3000" dirty="0">
                <a:latin typeface="楷体" panose="02010609060101010101" pitchFamily="49" charset="-122"/>
                <a:ea typeface="楷体" panose="02010609060101010101" pitchFamily="49" charset="-122"/>
              </a:rPr>
              <a:t>(16) </a:t>
            </a: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：该字段以字节为单位定义</a:t>
            </a:r>
            <a:r>
              <a:rPr lang="en-US" altLang="zh-CN" sz="3000" dirty="0">
                <a:latin typeface="楷体" panose="02010609060101010101" pitchFamily="49" charset="-122"/>
                <a:ea typeface="楷体" panose="02010609060101010101" pitchFamily="49" charset="-122"/>
              </a:rPr>
              <a:t>IP</a:t>
            </a: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数据报的总长度</a:t>
            </a:r>
            <a:r>
              <a:rPr lang="en-US" altLang="zh-CN" sz="3000" dirty="0"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首部加上数据</a:t>
            </a:r>
            <a:r>
              <a:rPr lang="en-US" altLang="zh-CN" sz="3000" dirty="0"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。 最大长度可达</a:t>
            </a:r>
            <a:r>
              <a:rPr lang="en-US" altLang="zh-CN" sz="3000" dirty="0">
                <a:latin typeface="楷体" panose="02010609060101010101" pitchFamily="49" charset="-122"/>
                <a:ea typeface="楷体" panose="02010609060101010101" pitchFamily="49" charset="-122"/>
              </a:rPr>
              <a:t>65,536</a:t>
            </a: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字节。</a:t>
            </a:r>
            <a:endParaRPr lang="zh-CN" altLang="en-US" sz="3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/>
            <a:r>
              <a:rPr lang="zh-CN" altLang="en-US" dirty="0"/>
              <a:t>分段后，该字段不是指未分段前的数据报长度，而是指各分段的长度</a:t>
            </a:r>
            <a:endParaRPr lang="zh-CN" altLang="en-US" dirty="0"/>
          </a:p>
        </p:txBody>
      </p:sp>
      <p:pic>
        <p:nvPicPr>
          <p:cNvPr id="468996" name="Picture 4" descr="Picture1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5188" y="1305384"/>
            <a:ext cx="8089900" cy="2069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68997" name="Rectangle 5"/>
          <p:cNvSpPr>
            <a:spLocks noChangeArrowheads="1"/>
          </p:cNvSpPr>
          <p:nvPr/>
        </p:nvSpPr>
        <p:spPr bwMode="auto">
          <a:xfrm>
            <a:off x="6167438" y="1345828"/>
            <a:ext cx="3889375" cy="287337"/>
          </a:xfrm>
          <a:prstGeom prst="rect">
            <a:avLst/>
          </a:prstGeom>
          <a:noFill/>
          <a:ln w="28575" algn="ctr">
            <a:solidFill>
              <a:srgbClr val="FF33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/>
          </a:p>
        </p:txBody>
      </p:sp>
      <p:sp>
        <p:nvSpPr>
          <p:cNvPr id="468998" name="Rectangle 6"/>
          <p:cNvSpPr>
            <a:spLocks noChangeArrowheads="1"/>
          </p:cNvSpPr>
          <p:nvPr/>
        </p:nvSpPr>
        <p:spPr bwMode="auto">
          <a:xfrm>
            <a:off x="1558926" y="6597650"/>
            <a:ext cx="2339975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r>
              <a:rPr lang="en-US" altLang="zh-CN" sz="1400">
                <a:solidFill>
                  <a:schemeClr val="bg2"/>
                </a:solidFill>
              </a:rPr>
              <a:t>IP</a:t>
            </a:r>
            <a:r>
              <a:rPr lang="zh-CN" altLang="en-US" sz="1400">
                <a:solidFill>
                  <a:schemeClr val="bg2"/>
                </a:solidFill>
              </a:rPr>
              <a:t>报文格式</a:t>
            </a:r>
            <a:endParaRPr lang="zh-CN" altLang="en-US" sz="1400">
              <a:solidFill>
                <a:schemeClr val="bg2"/>
              </a:solidFill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1673856" y="908720"/>
            <a:ext cx="8820472" cy="0"/>
          </a:xfrm>
          <a:prstGeom prst="line">
            <a:avLst/>
          </a:prstGeom>
          <a:ln>
            <a:gradFill flip="none" rotWithShape="1">
              <a:gsLst>
                <a:gs pos="0">
                  <a:srgbClr val="FFF200"/>
                </a:gs>
                <a:gs pos="45000">
                  <a:srgbClr val="FF7A00"/>
                </a:gs>
                <a:gs pos="70000">
                  <a:srgbClr val="FF0300"/>
                </a:gs>
                <a:gs pos="100000">
                  <a:srgbClr val="4D0808"/>
                </a:gs>
              </a:gsLst>
              <a:lin ang="10800000" scaled="1"/>
              <a:tileRect/>
            </a:gra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7476" name="Picture 4" descr="Picture1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8201" y="1057080"/>
            <a:ext cx="8089900" cy="20870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9C177-AD9F-4B88-B80B-180214D03947}" type="slidenum">
              <a:rPr lang="en-US" altLang="zh-CN"/>
            </a:fld>
            <a:endParaRPr lang="en-US" altLang="zh-CN"/>
          </a:p>
        </p:txBody>
      </p:sp>
      <p:sp>
        <p:nvSpPr>
          <p:cNvPr id="617474" name="Rectangle 2"/>
          <p:cNvSpPr>
            <a:spLocks noGrp="1" noChangeArrowheads="1"/>
          </p:cNvSpPr>
          <p:nvPr>
            <p:ph type="title"/>
          </p:nvPr>
        </p:nvSpPr>
        <p:spPr>
          <a:xfrm>
            <a:off x="1924050" y="-161925"/>
            <a:ext cx="8229600" cy="1143000"/>
          </a:xfrm>
        </p:spPr>
        <p:txBody>
          <a:bodyPr/>
          <a:lstStyle/>
          <a:p>
            <a:r>
              <a:rPr lang="en-US" altLang="zh-CN" sz="4000" b="1" dirty="0">
                <a:solidFill>
                  <a:srgbClr val="C00000"/>
                </a:solidFill>
              </a:rPr>
              <a:t>IPv4</a:t>
            </a:r>
            <a:r>
              <a:rPr lang="zh-CN" altLang="en-US" sz="4000" b="1" dirty="0">
                <a:solidFill>
                  <a:srgbClr val="C00000"/>
                </a:solidFill>
              </a:rPr>
              <a:t>报文格式</a:t>
            </a:r>
            <a:r>
              <a:rPr lang="en-US" altLang="zh-CN" sz="4000" b="1" dirty="0">
                <a:solidFill>
                  <a:srgbClr val="C00000"/>
                </a:solidFill>
              </a:rPr>
              <a:t>(4)</a:t>
            </a:r>
            <a:endParaRPr lang="en-US" altLang="zh-CN" sz="4000" b="1" dirty="0">
              <a:solidFill>
                <a:srgbClr val="C00000"/>
              </a:solidFill>
            </a:endParaRPr>
          </a:p>
        </p:txBody>
      </p:sp>
      <p:sp>
        <p:nvSpPr>
          <p:cNvPr id="6174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67880" y="3356993"/>
            <a:ext cx="8338766" cy="2572220"/>
          </a:xfrm>
        </p:spPr>
        <p:txBody>
          <a:bodyPr/>
          <a:lstStyle/>
          <a:p>
            <a:pPr>
              <a:lnSpc>
                <a:spcPct val="90000"/>
              </a:lnSpc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标识</a:t>
            </a:r>
            <a:r>
              <a:rPr lang="en-US" altLang="zh-CN" sz="3000" dirty="0">
                <a:latin typeface="楷体" panose="02010609060101010101" pitchFamily="49" charset="-122"/>
                <a:ea typeface="楷体" panose="02010609060101010101" pitchFamily="49" charset="-122"/>
              </a:rPr>
              <a:t>(16)</a:t>
            </a: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：唯一地标识主机发送的每一个数据报。通常每发送一个报文，其值自动加</a:t>
            </a:r>
            <a:r>
              <a:rPr lang="en-US" altLang="zh-CN" sz="30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zh-CN" altLang="en-US" sz="3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/>
            <a:r>
              <a:rPr lang="zh-CN" altLang="en-US" dirty="0"/>
              <a:t>该字段不是序号</a:t>
            </a:r>
            <a:endParaRPr lang="zh-CN" altLang="en-US" dirty="0"/>
          </a:p>
          <a:p>
            <a:pPr lvl="1"/>
            <a:r>
              <a:rPr lang="zh-CN" altLang="en-US" dirty="0"/>
              <a:t>如果数据包被分段以适应小型数据包的网络，那么每一个分片中都设置相同的标识号码。</a:t>
            </a:r>
            <a:endParaRPr lang="zh-CN" altLang="en-US" dirty="0"/>
          </a:p>
        </p:txBody>
      </p:sp>
      <p:sp>
        <p:nvSpPr>
          <p:cNvPr id="617477" name="Rectangle 5"/>
          <p:cNvSpPr>
            <a:spLocks noChangeArrowheads="1"/>
          </p:cNvSpPr>
          <p:nvPr/>
        </p:nvSpPr>
        <p:spPr bwMode="auto">
          <a:xfrm>
            <a:off x="2140596" y="1526045"/>
            <a:ext cx="3889375" cy="287338"/>
          </a:xfrm>
          <a:prstGeom prst="rect">
            <a:avLst/>
          </a:prstGeom>
          <a:noFill/>
          <a:ln w="28575" algn="ctr">
            <a:solidFill>
              <a:srgbClr val="FF33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/>
          </a:p>
        </p:txBody>
      </p:sp>
      <p:sp>
        <p:nvSpPr>
          <p:cNvPr id="617478" name="Rectangle 6"/>
          <p:cNvSpPr>
            <a:spLocks noChangeArrowheads="1"/>
          </p:cNvSpPr>
          <p:nvPr/>
        </p:nvSpPr>
        <p:spPr bwMode="auto">
          <a:xfrm>
            <a:off x="1558926" y="6597650"/>
            <a:ext cx="2339975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r>
              <a:rPr lang="en-US" altLang="zh-CN" sz="1400">
                <a:solidFill>
                  <a:schemeClr val="bg2"/>
                </a:solidFill>
              </a:rPr>
              <a:t>IP</a:t>
            </a:r>
            <a:r>
              <a:rPr lang="zh-CN" altLang="en-US" sz="1400">
                <a:solidFill>
                  <a:schemeClr val="bg2"/>
                </a:solidFill>
              </a:rPr>
              <a:t>报文格式</a:t>
            </a:r>
            <a:endParaRPr lang="zh-CN" altLang="en-US" sz="1400">
              <a:solidFill>
                <a:schemeClr val="bg2"/>
              </a:solidFill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1774825" y="836712"/>
            <a:ext cx="8820472" cy="0"/>
          </a:xfrm>
          <a:prstGeom prst="line">
            <a:avLst/>
          </a:prstGeom>
          <a:ln>
            <a:gradFill flip="none" rotWithShape="1">
              <a:gsLst>
                <a:gs pos="0">
                  <a:srgbClr val="FFF200"/>
                </a:gs>
                <a:gs pos="45000">
                  <a:srgbClr val="FF7A00"/>
                </a:gs>
                <a:gs pos="70000">
                  <a:srgbClr val="FF0300"/>
                </a:gs>
                <a:gs pos="100000">
                  <a:srgbClr val="4D0808"/>
                </a:gs>
              </a:gsLst>
              <a:lin ang="10800000" scaled="1"/>
              <a:tileRect/>
            </a:gra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0F985-FEAF-4B33-A78D-88C0F0DE1730}" type="slidenum">
              <a:rPr lang="en-US" altLang="zh-CN"/>
            </a:fld>
            <a:endParaRPr lang="en-US" altLang="zh-CN"/>
          </a:p>
        </p:txBody>
      </p:sp>
      <p:sp>
        <p:nvSpPr>
          <p:cNvPr id="470018" name="Rectangle 2"/>
          <p:cNvSpPr>
            <a:spLocks noGrp="1" noChangeArrowheads="1"/>
          </p:cNvSpPr>
          <p:nvPr>
            <p:ph type="title"/>
          </p:nvPr>
        </p:nvSpPr>
        <p:spPr>
          <a:xfrm>
            <a:off x="1558925" y="-205104"/>
            <a:ext cx="8229600" cy="1143000"/>
          </a:xfrm>
        </p:spPr>
        <p:txBody>
          <a:bodyPr/>
          <a:lstStyle/>
          <a:p>
            <a:r>
              <a:rPr lang="en-US" altLang="zh-CN" sz="4000" b="1" dirty="0">
                <a:solidFill>
                  <a:srgbClr val="C00000"/>
                </a:solidFill>
              </a:rPr>
              <a:t>IPv4</a:t>
            </a:r>
            <a:r>
              <a:rPr lang="zh-CN" altLang="en-US" sz="4000" b="1" dirty="0">
                <a:solidFill>
                  <a:srgbClr val="C00000"/>
                </a:solidFill>
              </a:rPr>
              <a:t>报文格式</a:t>
            </a:r>
            <a:r>
              <a:rPr lang="en-US" altLang="zh-CN" sz="4000" b="1" dirty="0">
                <a:solidFill>
                  <a:srgbClr val="C00000"/>
                </a:solidFill>
              </a:rPr>
              <a:t>(5)</a:t>
            </a:r>
            <a:endParaRPr lang="en-US" altLang="zh-CN" sz="4000" b="1" dirty="0">
              <a:solidFill>
                <a:srgbClr val="C00000"/>
              </a:solidFill>
            </a:endParaRPr>
          </a:p>
        </p:txBody>
      </p:sp>
      <p:sp>
        <p:nvSpPr>
          <p:cNvPr id="4700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63886" y="2960219"/>
            <a:ext cx="8642350" cy="3396132"/>
          </a:xfrm>
        </p:spPr>
        <p:txBody>
          <a:bodyPr/>
          <a:lstStyle/>
          <a:p>
            <a:pPr>
              <a:lnSpc>
                <a:spcPct val="90000"/>
              </a:lnSpc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标志</a:t>
            </a:r>
            <a:r>
              <a:rPr lang="en-US" altLang="zh-CN" sz="3000" dirty="0">
                <a:latin typeface="楷体" panose="02010609060101010101" pitchFamily="49" charset="-122"/>
                <a:ea typeface="楷体" panose="02010609060101010101" pitchFamily="49" charset="-122"/>
              </a:rPr>
              <a:t>(3)</a:t>
            </a: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：目前只有</a:t>
            </a:r>
            <a:r>
              <a:rPr lang="en-US" altLang="zh-CN" sz="30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位有意义</a:t>
            </a:r>
            <a:endParaRPr lang="zh-CN" altLang="en-US" sz="3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/>
            <a:r>
              <a:rPr lang="zh-CN" altLang="en-US" dirty="0"/>
              <a:t>第</a:t>
            </a:r>
            <a:r>
              <a:rPr lang="en-US" altLang="zh-CN" dirty="0"/>
              <a:t>1</a:t>
            </a:r>
            <a:r>
              <a:rPr lang="zh-CN" altLang="en-US" dirty="0"/>
              <a:t>位没有使用</a:t>
            </a:r>
            <a:endParaRPr lang="zh-CN" altLang="en-US" dirty="0"/>
          </a:p>
          <a:p>
            <a:pPr lvl="1"/>
            <a:r>
              <a:rPr lang="zh-CN" altLang="en-US" dirty="0"/>
              <a:t>第</a:t>
            </a:r>
            <a:r>
              <a:rPr lang="en-US" altLang="zh-CN" dirty="0"/>
              <a:t>2</a:t>
            </a:r>
            <a:r>
              <a:rPr lang="zh-CN" altLang="en-US" dirty="0"/>
              <a:t>位为</a:t>
            </a:r>
            <a:r>
              <a:rPr lang="en-US" altLang="zh-CN" dirty="0"/>
              <a:t>DF(Don’t Fragment)</a:t>
            </a:r>
            <a:r>
              <a:rPr lang="zh-CN" altLang="en-US" dirty="0"/>
              <a:t>位，该位被置</a:t>
            </a:r>
            <a:r>
              <a:rPr lang="en-US" altLang="zh-CN" dirty="0"/>
              <a:t>1</a:t>
            </a:r>
            <a:r>
              <a:rPr lang="zh-CN" altLang="en-US" dirty="0"/>
              <a:t>表示不要分段，它命令路由器不要将数据报分段，因为目的端不能重组分段。</a:t>
            </a:r>
            <a:endParaRPr lang="zh-CN" altLang="en-US" dirty="0"/>
          </a:p>
          <a:p>
            <a:pPr lvl="1"/>
            <a:r>
              <a:rPr lang="zh-CN" altLang="en-US" dirty="0"/>
              <a:t>第</a:t>
            </a:r>
            <a:r>
              <a:rPr lang="en-US" altLang="zh-CN" dirty="0"/>
              <a:t>3</a:t>
            </a:r>
            <a:r>
              <a:rPr lang="zh-CN" altLang="en-US" dirty="0"/>
              <a:t>位是</a:t>
            </a:r>
            <a:r>
              <a:rPr lang="en-US" altLang="zh-CN" dirty="0"/>
              <a:t>MF(More Fragments) </a:t>
            </a:r>
            <a:r>
              <a:rPr lang="zh-CN" altLang="en-US" dirty="0"/>
              <a:t>位，该位被置</a:t>
            </a:r>
            <a:r>
              <a:rPr lang="en-US" altLang="zh-CN" dirty="0"/>
              <a:t>1</a:t>
            </a:r>
            <a:r>
              <a:rPr lang="zh-CN" altLang="en-US" dirty="0"/>
              <a:t>表示该分段后还有进一步的分段，最后一个分段</a:t>
            </a:r>
            <a:r>
              <a:rPr lang="en-US" altLang="zh-CN" dirty="0"/>
              <a:t>MF</a:t>
            </a:r>
            <a:r>
              <a:rPr lang="zh-CN" altLang="en-US" dirty="0"/>
              <a:t>位为</a:t>
            </a:r>
            <a:r>
              <a:rPr lang="en-US" altLang="zh-CN" dirty="0"/>
              <a:t>0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C00000"/>
                </a:solidFill>
              </a:rPr>
              <a:t>是否分段与最大传送单元</a:t>
            </a:r>
            <a:r>
              <a:rPr lang="en-US" altLang="zh-CN" dirty="0">
                <a:solidFill>
                  <a:srgbClr val="C00000"/>
                </a:solidFill>
              </a:rPr>
              <a:t>(MTU)</a:t>
            </a:r>
            <a:r>
              <a:rPr lang="zh-CN" altLang="en-US" dirty="0">
                <a:solidFill>
                  <a:srgbClr val="C00000"/>
                </a:solidFill>
              </a:rPr>
              <a:t>有关</a:t>
            </a:r>
            <a:endParaRPr lang="zh-CN" altLang="en-US" dirty="0">
              <a:solidFill>
                <a:srgbClr val="C00000"/>
              </a:solidFill>
            </a:endParaRPr>
          </a:p>
        </p:txBody>
      </p:sp>
      <p:pic>
        <p:nvPicPr>
          <p:cNvPr id="470021" name="Picture 5" descr="Picture1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9783" y="995682"/>
            <a:ext cx="8089900" cy="1871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0022" name="Rectangle 6"/>
          <p:cNvSpPr>
            <a:spLocks noChangeArrowheads="1"/>
          </p:cNvSpPr>
          <p:nvPr/>
        </p:nvSpPr>
        <p:spPr bwMode="auto">
          <a:xfrm>
            <a:off x="6167439" y="1412875"/>
            <a:ext cx="720725" cy="287338"/>
          </a:xfrm>
          <a:prstGeom prst="rect">
            <a:avLst/>
          </a:prstGeom>
          <a:noFill/>
          <a:ln w="28575" algn="ctr">
            <a:solidFill>
              <a:srgbClr val="FF33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/>
          </a:p>
        </p:txBody>
      </p:sp>
      <p:sp>
        <p:nvSpPr>
          <p:cNvPr id="470023" name="Rectangle 7"/>
          <p:cNvSpPr>
            <a:spLocks noChangeArrowheads="1"/>
          </p:cNvSpPr>
          <p:nvPr/>
        </p:nvSpPr>
        <p:spPr bwMode="auto">
          <a:xfrm>
            <a:off x="1558926" y="6597650"/>
            <a:ext cx="2339975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r>
              <a:rPr lang="en-US" altLang="zh-CN" sz="1400">
                <a:solidFill>
                  <a:schemeClr val="bg2"/>
                </a:solidFill>
              </a:rPr>
              <a:t>IP</a:t>
            </a:r>
            <a:r>
              <a:rPr lang="zh-CN" altLang="en-US" sz="1400">
                <a:solidFill>
                  <a:schemeClr val="bg2"/>
                </a:solidFill>
              </a:rPr>
              <a:t>报文格式</a:t>
            </a:r>
            <a:endParaRPr lang="zh-CN" altLang="en-US" sz="1400">
              <a:solidFill>
                <a:schemeClr val="bg2"/>
              </a:solidFill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1774825" y="764704"/>
            <a:ext cx="8820472" cy="0"/>
          </a:xfrm>
          <a:prstGeom prst="line">
            <a:avLst/>
          </a:prstGeom>
          <a:ln>
            <a:gradFill flip="none" rotWithShape="1">
              <a:gsLst>
                <a:gs pos="0">
                  <a:srgbClr val="FFF200"/>
                </a:gs>
                <a:gs pos="45000">
                  <a:srgbClr val="FF7A00"/>
                </a:gs>
                <a:gs pos="70000">
                  <a:srgbClr val="FF0300"/>
                </a:gs>
                <a:gs pos="100000">
                  <a:srgbClr val="4D0808"/>
                </a:gs>
              </a:gsLst>
              <a:lin ang="10800000" scaled="1"/>
              <a:tileRect/>
            </a:gra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B82E-9CFB-41D2-ADBB-E3884ECFA328}" type="slidenum">
              <a:rPr lang="en-US" altLang="zh-CN"/>
            </a:fld>
            <a:endParaRPr lang="en-US" altLang="zh-CN"/>
          </a:p>
        </p:txBody>
      </p:sp>
      <p:sp>
        <p:nvSpPr>
          <p:cNvPr id="471042" name="Rectangle 2"/>
          <p:cNvSpPr>
            <a:spLocks noGrp="1" noChangeArrowheads="1"/>
          </p:cNvSpPr>
          <p:nvPr>
            <p:ph type="title"/>
          </p:nvPr>
        </p:nvSpPr>
        <p:spPr>
          <a:xfrm>
            <a:off x="1691001" y="-20637"/>
            <a:ext cx="8229600" cy="1143000"/>
          </a:xfrm>
        </p:spPr>
        <p:txBody>
          <a:bodyPr/>
          <a:lstStyle/>
          <a:p>
            <a:r>
              <a:rPr lang="en-US" altLang="zh-CN" sz="4000" b="1" dirty="0">
                <a:solidFill>
                  <a:srgbClr val="C00000"/>
                </a:solidFill>
              </a:rPr>
              <a:t>IPv4</a:t>
            </a:r>
            <a:r>
              <a:rPr lang="zh-CN" altLang="en-US" sz="4000" b="1" dirty="0">
                <a:solidFill>
                  <a:srgbClr val="C00000"/>
                </a:solidFill>
              </a:rPr>
              <a:t>报文格式</a:t>
            </a:r>
            <a:r>
              <a:rPr lang="en-US" altLang="zh-CN" sz="4000" b="1" dirty="0">
                <a:solidFill>
                  <a:srgbClr val="C00000"/>
                </a:solidFill>
              </a:rPr>
              <a:t>(6)</a:t>
            </a:r>
            <a:endParaRPr lang="en-US" altLang="zh-CN" sz="4000" b="1" dirty="0">
              <a:solidFill>
                <a:srgbClr val="C00000"/>
              </a:solidFill>
            </a:endParaRPr>
          </a:p>
        </p:txBody>
      </p:sp>
      <p:sp>
        <p:nvSpPr>
          <p:cNvPr id="4710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74825" y="3412491"/>
            <a:ext cx="8642350" cy="2680806"/>
          </a:xfrm>
        </p:spPr>
        <p:txBody>
          <a:bodyPr/>
          <a:lstStyle/>
          <a:p>
            <a:pPr>
              <a:lnSpc>
                <a:spcPct val="90000"/>
              </a:lnSpc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偏移量</a:t>
            </a:r>
            <a:r>
              <a:rPr lang="en-US" altLang="zh-CN" sz="3000" dirty="0">
                <a:latin typeface="楷体" panose="02010609060101010101" pitchFamily="49" charset="-122"/>
                <a:ea typeface="楷体" panose="02010609060101010101" pitchFamily="49" charset="-122"/>
              </a:rPr>
              <a:t>(13)</a:t>
            </a: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：分段偏移说明该分段在当前数据报的什么位置。</a:t>
            </a:r>
            <a:endParaRPr lang="zh-CN" altLang="en-US" sz="3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/>
            <a:r>
              <a:rPr lang="zh-CN" altLang="en-US" dirty="0"/>
              <a:t>分段偏移以 </a:t>
            </a:r>
            <a:r>
              <a:rPr lang="en-US" altLang="zh-CN" dirty="0"/>
              <a:t>8</a:t>
            </a:r>
            <a:r>
              <a:rPr lang="zh-CN" altLang="en-US" dirty="0"/>
              <a:t>字节为单位，这样偏移量</a:t>
            </a:r>
            <a:r>
              <a:rPr lang="en-US" altLang="zh-CN" dirty="0"/>
              <a:t>1</a:t>
            </a:r>
            <a:r>
              <a:rPr lang="zh-CN" altLang="en-US" dirty="0"/>
              <a:t>对应字节号</a:t>
            </a:r>
            <a:r>
              <a:rPr lang="en-US" altLang="zh-CN" dirty="0"/>
              <a:t>8</a:t>
            </a:r>
            <a:r>
              <a:rPr lang="zh-CN" altLang="en-US" dirty="0"/>
              <a:t>，偏移量 </a:t>
            </a:r>
            <a:r>
              <a:rPr lang="en-US" altLang="zh-CN" dirty="0"/>
              <a:t>2</a:t>
            </a:r>
            <a:r>
              <a:rPr lang="zh-CN" altLang="en-US" dirty="0"/>
              <a:t>对应字节号</a:t>
            </a:r>
            <a:r>
              <a:rPr lang="en-US" altLang="zh-CN" dirty="0"/>
              <a:t>16</a:t>
            </a:r>
            <a:r>
              <a:rPr lang="zh-CN" altLang="en-US" dirty="0"/>
              <a:t>，依此类推。</a:t>
            </a:r>
            <a:endParaRPr lang="zh-CN" altLang="en-US" dirty="0"/>
          </a:p>
          <a:p>
            <a:pPr lvl="1"/>
            <a:r>
              <a:rPr lang="zh-CN" altLang="en-US" dirty="0"/>
              <a:t>数据报进行分段的主机或路由器必须选择每一个分段的长度能够被</a:t>
            </a:r>
            <a:r>
              <a:rPr lang="en-US" altLang="zh-CN" dirty="0"/>
              <a:t>8</a:t>
            </a:r>
            <a:r>
              <a:rPr lang="zh-CN" altLang="en-US" dirty="0"/>
              <a:t>除尽。 </a:t>
            </a:r>
            <a:endParaRPr lang="zh-CN" altLang="en-US" dirty="0"/>
          </a:p>
        </p:txBody>
      </p:sp>
      <p:pic>
        <p:nvPicPr>
          <p:cNvPr id="471044" name="Picture 4" descr="Picture1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1486" y="1045247"/>
            <a:ext cx="8089900" cy="2150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1045" name="Rectangle 5"/>
          <p:cNvSpPr>
            <a:spLocks noChangeArrowheads="1"/>
          </p:cNvSpPr>
          <p:nvPr/>
        </p:nvSpPr>
        <p:spPr bwMode="auto">
          <a:xfrm>
            <a:off x="6984206" y="1543526"/>
            <a:ext cx="3097213" cy="287338"/>
          </a:xfrm>
          <a:prstGeom prst="rect">
            <a:avLst/>
          </a:prstGeom>
          <a:noFill/>
          <a:ln w="28575" algn="ctr">
            <a:solidFill>
              <a:srgbClr val="FF33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/>
          </a:p>
        </p:txBody>
      </p:sp>
      <p:sp>
        <p:nvSpPr>
          <p:cNvPr id="471046" name="Rectangle 6"/>
          <p:cNvSpPr>
            <a:spLocks noChangeArrowheads="1"/>
          </p:cNvSpPr>
          <p:nvPr/>
        </p:nvSpPr>
        <p:spPr bwMode="auto">
          <a:xfrm>
            <a:off x="1558926" y="6597650"/>
            <a:ext cx="2339975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r>
              <a:rPr lang="en-US" altLang="zh-CN" sz="1400">
                <a:solidFill>
                  <a:schemeClr val="bg2"/>
                </a:solidFill>
              </a:rPr>
              <a:t>IP</a:t>
            </a:r>
            <a:r>
              <a:rPr lang="zh-CN" altLang="en-US" sz="1400">
                <a:solidFill>
                  <a:schemeClr val="bg2"/>
                </a:solidFill>
              </a:rPr>
              <a:t>报文格式</a:t>
            </a:r>
            <a:endParaRPr lang="zh-CN" altLang="en-US" sz="1400">
              <a:solidFill>
                <a:schemeClr val="bg2"/>
              </a:solidFill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1596703" y="908720"/>
            <a:ext cx="8820472" cy="0"/>
          </a:xfrm>
          <a:prstGeom prst="line">
            <a:avLst/>
          </a:prstGeom>
          <a:ln>
            <a:gradFill flip="none" rotWithShape="1">
              <a:gsLst>
                <a:gs pos="0">
                  <a:srgbClr val="FFF200"/>
                </a:gs>
                <a:gs pos="45000">
                  <a:srgbClr val="FF7A00"/>
                </a:gs>
                <a:gs pos="70000">
                  <a:srgbClr val="FF0300"/>
                </a:gs>
                <a:gs pos="100000">
                  <a:srgbClr val="4D0808"/>
                </a:gs>
              </a:gsLst>
              <a:lin ang="10800000" scaled="1"/>
              <a:tileRect/>
            </a:gra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Slide Number Placeholder 6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5F45A30-29DA-4A95-BF58-0698B49F6665}" type="slidenum">
              <a:rPr lang="en-US" altLang="zh-CN" sz="1200">
                <a:solidFill>
                  <a:srgbClr val="898989"/>
                </a:solidFill>
              </a:rPr>
            </a:fld>
            <a:endParaRPr lang="en-US" altLang="zh-CN" sz="1200">
              <a:solidFill>
                <a:srgbClr val="898989"/>
              </a:solidFill>
            </a:endParaRPr>
          </a:p>
        </p:txBody>
      </p:sp>
      <p:sp>
        <p:nvSpPr>
          <p:cNvPr id="112643" name="Rectangle 2"/>
          <p:cNvSpPr>
            <a:spLocks noGrp="1" noRot="1"/>
          </p:cNvSpPr>
          <p:nvPr>
            <p:ph type="title"/>
          </p:nvPr>
        </p:nvSpPr>
        <p:spPr>
          <a:xfrm>
            <a:off x="1822450" y="404814"/>
            <a:ext cx="8540750" cy="966787"/>
          </a:xfrm>
        </p:spPr>
        <p:txBody>
          <a:bodyPr/>
          <a:lstStyle/>
          <a:p>
            <a:r>
              <a:rPr lang="en-US" altLang="zh-CN" sz="4000" b="1" dirty="0">
                <a:solidFill>
                  <a:srgbClr val="C0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 </a:t>
            </a:r>
            <a:r>
              <a:rPr lang="en-US" altLang="zh-CN" sz="4000" b="1" dirty="0">
                <a:solidFill>
                  <a:srgbClr val="C00000"/>
                </a:solidFill>
              </a:rPr>
              <a:t>IPv4</a:t>
            </a:r>
            <a:r>
              <a:rPr lang="zh-CN" altLang="en-US" sz="4000" b="1" dirty="0">
                <a:solidFill>
                  <a:srgbClr val="C00000"/>
                </a:solidFill>
              </a:rPr>
              <a:t>数据报分段 </a:t>
            </a:r>
            <a:endParaRPr lang="zh-CN" altLang="en-US" sz="4000" b="1" dirty="0">
              <a:solidFill>
                <a:srgbClr val="C00000"/>
              </a:solidFill>
            </a:endParaRPr>
          </a:p>
        </p:txBody>
      </p:sp>
      <p:sp>
        <p:nvSpPr>
          <p:cNvPr id="112644" name="Rectangle 3"/>
          <p:cNvSpPr>
            <a:spLocks noGrp="1" noRot="1"/>
          </p:cNvSpPr>
          <p:nvPr>
            <p:ph type="body" sz="half" idx="1"/>
          </p:nvPr>
        </p:nvSpPr>
        <p:spPr>
          <a:xfrm>
            <a:off x="4008438" y="1412876"/>
            <a:ext cx="4000500" cy="460375"/>
          </a:xfrm>
        </p:spPr>
        <p:txBody>
          <a:bodyPr/>
          <a:lstStyle/>
          <a:p>
            <a:pPr algn="ctr">
              <a:buFont typeface="Wingdings" panose="05000000000000000000" pitchFamily="2" charset="2"/>
              <a:buNone/>
            </a:pPr>
            <a:r>
              <a:rPr lang="en-US" altLang="zh-CN" sz="2400"/>
              <a:t> </a:t>
            </a:r>
            <a:r>
              <a:rPr lang="zh-CN" altLang="en-US" sz="2400"/>
              <a:t>最大传送单元（</a:t>
            </a:r>
            <a:r>
              <a:rPr lang="en-US" altLang="zh-CN" sz="2400"/>
              <a:t>MTU</a:t>
            </a:r>
            <a:r>
              <a:rPr lang="zh-CN" altLang="en-US" sz="2400"/>
              <a:t>） </a:t>
            </a:r>
            <a:endParaRPr lang="zh-CN" altLang="en-US" sz="2400"/>
          </a:p>
        </p:txBody>
      </p:sp>
      <p:pic>
        <p:nvPicPr>
          <p:cNvPr id="112645" name="图片 45" descr="08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0375" y="1989139"/>
            <a:ext cx="5976938" cy="167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98661" name="Group 5"/>
          <p:cNvGraphicFramePr>
            <a:graphicFrameLocks noGrp="1"/>
          </p:cNvGraphicFramePr>
          <p:nvPr>
            <p:ph sz="half" idx="2"/>
          </p:nvPr>
        </p:nvGraphicFramePr>
        <p:xfrm>
          <a:off x="3143251" y="3860800"/>
          <a:ext cx="6264275" cy="2102930"/>
        </p:xfrm>
        <a:graphic>
          <a:graphicData uri="http://schemas.openxmlformats.org/drawingml/2006/table">
            <a:tbl>
              <a:tblPr/>
              <a:tblGrid>
                <a:gridCol w="2347913"/>
                <a:gridCol w="995362"/>
                <a:gridCol w="1965325"/>
                <a:gridCol w="955675"/>
              </a:tblGrid>
              <a:tr h="365678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协   议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MTU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协   议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MTU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3995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超级通道（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Hyperchannel</a:t>
                      </a: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）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65535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以太网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1500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678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令牌环（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16Mbps</a:t>
                      </a: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）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17914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X.25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576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678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令牌环（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4Mbps</a:t>
                      </a: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）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4464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PPP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296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987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FDDI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4352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cxnSp>
        <p:nvCxnSpPr>
          <p:cNvPr id="10" name="直接连接符 6"/>
          <p:cNvCxnSpPr/>
          <p:nvPr/>
        </p:nvCxnSpPr>
        <p:spPr>
          <a:xfrm>
            <a:off x="1847528" y="1316831"/>
            <a:ext cx="8820472" cy="0"/>
          </a:xfrm>
          <a:prstGeom prst="line">
            <a:avLst/>
          </a:prstGeom>
          <a:ln>
            <a:gradFill flip="none" rotWithShape="1">
              <a:gsLst>
                <a:gs pos="0">
                  <a:srgbClr val="FFF200"/>
                </a:gs>
                <a:gs pos="45000">
                  <a:srgbClr val="FF7A00"/>
                </a:gs>
                <a:gs pos="70000">
                  <a:srgbClr val="FF0300"/>
                </a:gs>
                <a:gs pos="100000">
                  <a:srgbClr val="4D0808"/>
                </a:gs>
              </a:gsLst>
              <a:lin ang="10800000" scaled="1"/>
              <a:tileRect/>
            </a:gra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2682" name="灯片编号占位符 4"/>
          <p:cNvSpPr txBox="1"/>
          <p:nvPr/>
        </p:nvSpPr>
        <p:spPr bwMode="auto">
          <a:xfrm>
            <a:off x="8183563" y="6492876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fld id="{D8E231FA-AF65-41C5-AF94-9F585F0D41CD}" type="slidenum">
              <a:rPr lang="zh-CN" altLang="en-US" sz="1200"/>
            </a:fld>
            <a:endParaRPr lang="zh-CN" altLang="en-US" sz="1200"/>
          </a:p>
        </p:txBody>
      </p:sp>
      <p:sp>
        <p:nvSpPr>
          <p:cNvPr id="11" name="文本框 10"/>
          <p:cNvSpPr txBox="1"/>
          <p:nvPr/>
        </p:nvSpPr>
        <p:spPr>
          <a:xfrm>
            <a:off x="2898575" y="6068775"/>
            <a:ext cx="69717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40C28"/>
                </a:solidFill>
                <a:latin typeface="Google Sans"/>
              </a:rPr>
              <a:t>查看系统</a:t>
            </a:r>
            <a:r>
              <a:rPr lang="en-US" altLang="zh-CN" dirty="0">
                <a:solidFill>
                  <a:srgbClr val="040C28"/>
                </a:solidFill>
                <a:latin typeface="Google Sans"/>
              </a:rPr>
              <a:t>MTU</a:t>
            </a:r>
            <a:r>
              <a:rPr lang="zh-CN" altLang="en-US" dirty="0">
                <a:solidFill>
                  <a:srgbClr val="040C28"/>
                </a:solidFill>
                <a:latin typeface="Google Sans"/>
              </a:rPr>
              <a:t>值命令：</a:t>
            </a:r>
            <a:r>
              <a:rPr lang="en-US" altLang="zh-CN" b="0" i="0" dirty="0" err="1">
                <a:solidFill>
                  <a:srgbClr val="040C28"/>
                </a:solidFill>
                <a:effectLst/>
                <a:latin typeface="Google Sans"/>
              </a:rPr>
              <a:t>netsh</a:t>
            </a:r>
            <a:r>
              <a:rPr lang="en-US" altLang="zh-CN" b="0" i="0" dirty="0">
                <a:solidFill>
                  <a:srgbClr val="040C28"/>
                </a:solidFill>
                <a:effectLst/>
                <a:latin typeface="Google Sans"/>
              </a:rPr>
              <a:t> interface ipv4 show </a:t>
            </a:r>
            <a:r>
              <a:rPr lang="en-US" altLang="zh-CN" b="0" i="0" dirty="0" err="1">
                <a:solidFill>
                  <a:srgbClr val="040C28"/>
                </a:solidFill>
                <a:effectLst/>
                <a:latin typeface="Google Sans"/>
              </a:rPr>
              <a:t>subinterfaces</a:t>
            </a:r>
            <a:endParaRPr lang="zh-CN" altLang="en-US" dirty="0"/>
          </a:p>
        </p:txBody>
      </p:sp>
    </p:spTree>
  </p:cSld>
  <p:clrMapOvr>
    <a:masterClrMapping/>
  </p:clrMapOvr>
  <p:transition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2AE0B-0D5F-4CD7-8D90-ED1C1DB43572}" type="slidenum">
              <a:rPr lang="en-US" altLang="zh-CN"/>
            </a:fld>
            <a:endParaRPr lang="en-US" altLang="zh-CN"/>
          </a:p>
        </p:txBody>
      </p:sp>
      <p:sp>
        <p:nvSpPr>
          <p:cNvPr id="609282" name="Rectangle 2"/>
          <p:cNvSpPr>
            <a:spLocks noGrp="1" noChangeArrowheads="1"/>
          </p:cNvSpPr>
          <p:nvPr>
            <p:ph type="title"/>
          </p:nvPr>
        </p:nvSpPr>
        <p:spPr>
          <a:xfrm>
            <a:off x="1973208" y="-27975"/>
            <a:ext cx="8229600" cy="1143000"/>
          </a:xfrm>
        </p:spPr>
        <p:txBody>
          <a:bodyPr/>
          <a:lstStyle/>
          <a:p>
            <a:r>
              <a:rPr lang="zh-CN" altLang="en-US" sz="4000" b="1" dirty="0">
                <a:solidFill>
                  <a:srgbClr val="C00000"/>
                </a:solidFill>
              </a:rPr>
              <a:t>数据报分段示例</a:t>
            </a:r>
            <a:endParaRPr lang="zh-CN" altLang="en-US" sz="4000" b="1" dirty="0">
              <a:solidFill>
                <a:srgbClr val="C00000"/>
              </a:solidFill>
            </a:endParaRPr>
          </a:p>
        </p:txBody>
      </p:sp>
      <p:sp>
        <p:nvSpPr>
          <p:cNvPr id="609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43001" y="1052513"/>
            <a:ext cx="9274174" cy="1439862"/>
          </a:xfrm>
        </p:spPr>
        <p:txBody>
          <a:bodyPr>
            <a:normAutofit lnSpcReduction="10000"/>
          </a:bodyPr>
          <a:lstStyle/>
          <a:p>
            <a:pPr marL="0" indent="0">
              <a:buClr>
                <a:srgbClr val="C00000"/>
              </a:buClr>
              <a:buNone/>
            </a:pPr>
            <a:r>
              <a:rPr lang="en-US" altLang="zh-CN" sz="3200" kern="100" dirty="0">
                <a:effectLst/>
                <a:latin typeface="宋体" panose="02010600030101010101" pitchFamily="2" charset="-122"/>
                <a:cs typeface="Times New Roman" panose="02020603050405020304" pitchFamily="18" charset="0"/>
              </a:rPr>
              <a:t>Ping -L 3000 172.16.0.253</a:t>
            </a:r>
            <a:endParaRPr lang="en-US" altLang="zh-CN" sz="3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>
              <a:buClr>
                <a:srgbClr val="C00000"/>
              </a:buClr>
              <a:buNone/>
            </a:pP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即：数据报的总长度为</a:t>
            </a:r>
            <a:r>
              <a:rPr lang="en-US" altLang="zh-CN" sz="3000" dirty="0">
                <a:latin typeface="楷体" panose="02010609060101010101" pitchFamily="49" charset="-122"/>
                <a:ea typeface="楷体" panose="02010609060101010101" pitchFamily="49" charset="-122"/>
              </a:rPr>
              <a:t>3028</a:t>
            </a: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字节</a:t>
            </a:r>
            <a:r>
              <a:rPr lang="en-US" altLang="zh-CN" sz="3000" dirty="0">
                <a:latin typeface="楷体" panose="02010609060101010101" pitchFamily="49" charset="-122"/>
                <a:ea typeface="楷体" panose="02010609060101010101" pitchFamily="49" charset="-122"/>
              </a:rPr>
              <a:t>(IP</a:t>
            </a: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首部</a:t>
            </a:r>
            <a:r>
              <a:rPr lang="en-US" altLang="zh-CN" sz="3000" dirty="0">
                <a:latin typeface="楷体" panose="02010609060101010101" pitchFamily="49" charset="-122"/>
                <a:ea typeface="楷体" panose="02010609060101010101" pitchFamily="49" charset="-122"/>
              </a:rPr>
              <a:t>20</a:t>
            </a: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3000" dirty="0">
                <a:latin typeface="楷体" panose="02010609060101010101" pitchFamily="49" charset="-122"/>
                <a:ea typeface="楷体" panose="02010609060101010101" pitchFamily="49" charset="-122"/>
              </a:rPr>
              <a:t>ICMP</a:t>
            </a: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首部</a:t>
            </a:r>
            <a:r>
              <a:rPr lang="en-US" altLang="zh-CN" sz="3000" dirty="0">
                <a:latin typeface="楷体" panose="02010609060101010101" pitchFamily="49" charset="-122"/>
                <a:ea typeface="楷体" panose="02010609060101010101" pitchFamily="49" charset="-122"/>
              </a:rPr>
              <a:t>8</a:t>
            </a: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3000" dirty="0">
                <a:latin typeface="楷体" panose="02010609060101010101" pitchFamily="49" charset="-122"/>
                <a:ea typeface="楷体" panose="02010609060101010101" pitchFamily="49" charset="-122"/>
              </a:rPr>
              <a:t> ICMP </a:t>
            </a: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数据</a:t>
            </a:r>
            <a:r>
              <a:rPr lang="en-US" altLang="zh-CN" sz="3000" dirty="0">
                <a:latin typeface="楷体" panose="02010609060101010101" pitchFamily="49" charset="-122"/>
                <a:ea typeface="楷体" panose="02010609060101010101" pitchFamily="49" charset="-122"/>
              </a:rPr>
              <a:t>3000</a:t>
            </a: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），以太网的</a:t>
            </a:r>
            <a:r>
              <a:rPr lang="en-US" altLang="zh-CN" sz="3000" dirty="0">
                <a:latin typeface="楷体" panose="02010609060101010101" pitchFamily="49" charset="-122"/>
                <a:ea typeface="楷体" panose="02010609060101010101" pitchFamily="49" charset="-122"/>
              </a:rPr>
              <a:t>MTU</a:t>
            </a: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为</a:t>
            </a:r>
            <a:r>
              <a:rPr lang="en-US" altLang="zh-CN" sz="3000" dirty="0">
                <a:latin typeface="楷体" panose="02010609060101010101" pitchFamily="49" charset="-122"/>
                <a:ea typeface="楷体" panose="02010609060101010101" pitchFamily="49" charset="-122"/>
              </a:rPr>
              <a:t>1500</a:t>
            </a: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字节</a:t>
            </a:r>
            <a:endParaRPr lang="zh-CN" altLang="en-US" sz="3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09285" name="Rectangle 5"/>
          <p:cNvSpPr>
            <a:spLocks noChangeArrowheads="1"/>
          </p:cNvSpPr>
          <p:nvPr/>
        </p:nvSpPr>
        <p:spPr bwMode="auto">
          <a:xfrm>
            <a:off x="4302126" y="2924175"/>
            <a:ext cx="4830763" cy="46355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 sz="2800">
              <a:latin typeface="Tahoma" panose="020B0604030504040204" pitchFamily="34" charset="0"/>
            </a:endParaRPr>
          </a:p>
        </p:txBody>
      </p:sp>
      <p:sp>
        <p:nvSpPr>
          <p:cNvPr id="609286" name="Text Box 6"/>
          <p:cNvSpPr txBox="1">
            <a:spLocks noChangeArrowheads="1"/>
          </p:cNvSpPr>
          <p:nvPr/>
        </p:nvSpPr>
        <p:spPr bwMode="auto">
          <a:xfrm>
            <a:off x="2108201" y="6129338"/>
            <a:ext cx="182293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000">
                <a:solidFill>
                  <a:srgbClr val="333399"/>
                </a:solidFill>
              </a:rPr>
              <a:t>偏移 </a:t>
            </a:r>
            <a:r>
              <a:rPr kumimoji="1" lang="en-US" altLang="zh-CN" sz="2000">
                <a:solidFill>
                  <a:srgbClr val="333399"/>
                </a:solidFill>
              </a:rPr>
              <a:t>= 0/8 = 0</a:t>
            </a:r>
            <a:endParaRPr kumimoji="1" lang="en-US" altLang="zh-CN" sz="2000">
              <a:solidFill>
                <a:srgbClr val="333399"/>
              </a:solidFill>
            </a:endParaRPr>
          </a:p>
        </p:txBody>
      </p:sp>
      <p:sp>
        <p:nvSpPr>
          <p:cNvPr id="609287" name="Rectangle 7"/>
          <p:cNvSpPr>
            <a:spLocks noChangeArrowheads="1"/>
          </p:cNvSpPr>
          <p:nvPr/>
        </p:nvSpPr>
        <p:spPr bwMode="auto">
          <a:xfrm>
            <a:off x="3424238" y="2924175"/>
            <a:ext cx="5708650" cy="463550"/>
          </a:xfrm>
          <a:prstGeom prst="rect">
            <a:avLst/>
          </a:prstGeom>
          <a:solidFill>
            <a:srgbClr val="CCECFF"/>
          </a:soli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28398" dir="1593903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 sz="2800">
              <a:latin typeface="Tahoma" panose="020B0604030504040204" pitchFamily="34" charset="0"/>
            </a:endParaRPr>
          </a:p>
        </p:txBody>
      </p:sp>
      <p:sp>
        <p:nvSpPr>
          <p:cNvPr id="609288" name="Line 8"/>
          <p:cNvSpPr>
            <a:spLocks noChangeShapeType="1"/>
          </p:cNvSpPr>
          <p:nvPr/>
        </p:nvSpPr>
        <p:spPr bwMode="auto">
          <a:xfrm>
            <a:off x="4478338" y="2924175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9289" name="Line 9"/>
          <p:cNvSpPr>
            <a:spLocks noChangeShapeType="1"/>
          </p:cNvSpPr>
          <p:nvPr/>
        </p:nvSpPr>
        <p:spPr bwMode="auto">
          <a:xfrm>
            <a:off x="4654550" y="2924175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9290" name="Line 10"/>
          <p:cNvSpPr>
            <a:spLocks noChangeShapeType="1"/>
          </p:cNvSpPr>
          <p:nvPr/>
        </p:nvSpPr>
        <p:spPr bwMode="auto">
          <a:xfrm>
            <a:off x="4830763" y="2924175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9291" name="Line 11"/>
          <p:cNvSpPr>
            <a:spLocks noChangeShapeType="1"/>
          </p:cNvSpPr>
          <p:nvPr/>
        </p:nvSpPr>
        <p:spPr bwMode="auto">
          <a:xfrm>
            <a:off x="8956675" y="2924175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9292" name="Rectangle 12"/>
          <p:cNvSpPr>
            <a:spLocks noChangeArrowheads="1"/>
          </p:cNvSpPr>
          <p:nvPr/>
        </p:nvSpPr>
        <p:spPr bwMode="auto">
          <a:xfrm>
            <a:off x="2547939" y="4625975"/>
            <a:ext cx="1754187" cy="463550"/>
          </a:xfrm>
          <a:prstGeom prst="rect">
            <a:avLst/>
          </a:prstGeom>
          <a:solidFill>
            <a:srgbClr val="CCEC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 sz="2800">
              <a:latin typeface="Tahoma" panose="020B0604030504040204" pitchFamily="34" charset="0"/>
            </a:endParaRPr>
          </a:p>
        </p:txBody>
      </p:sp>
      <p:sp>
        <p:nvSpPr>
          <p:cNvPr id="609293" name="Line 13"/>
          <p:cNvSpPr>
            <a:spLocks noChangeShapeType="1"/>
          </p:cNvSpPr>
          <p:nvPr/>
        </p:nvSpPr>
        <p:spPr bwMode="auto">
          <a:xfrm>
            <a:off x="2722563" y="4625975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9294" name="Line 14"/>
          <p:cNvSpPr>
            <a:spLocks noChangeShapeType="1"/>
          </p:cNvSpPr>
          <p:nvPr/>
        </p:nvSpPr>
        <p:spPr bwMode="auto">
          <a:xfrm>
            <a:off x="2898775" y="4625975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9295" name="Line 15"/>
          <p:cNvSpPr>
            <a:spLocks noChangeShapeType="1"/>
          </p:cNvSpPr>
          <p:nvPr/>
        </p:nvSpPr>
        <p:spPr bwMode="auto">
          <a:xfrm>
            <a:off x="3074988" y="4625975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9296" name="Line 16"/>
          <p:cNvSpPr>
            <a:spLocks noChangeShapeType="1"/>
          </p:cNvSpPr>
          <p:nvPr/>
        </p:nvSpPr>
        <p:spPr bwMode="auto">
          <a:xfrm>
            <a:off x="4125913" y="4625975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9297" name="Text Box 17"/>
          <p:cNvSpPr txBox="1">
            <a:spLocks noChangeArrowheads="1"/>
          </p:cNvSpPr>
          <p:nvPr/>
        </p:nvSpPr>
        <p:spPr bwMode="auto">
          <a:xfrm>
            <a:off x="9190039" y="2997200"/>
            <a:ext cx="143033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1600">
                <a:solidFill>
                  <a:srgbClr val="333399"/>
                </a:solidFill>
              </a:rPr>
              <a:t>偏移 </a:t>
            </a:r>
            <a:r>
              <a:rPr kumimoji="1" lang="en-US" altLang="zh-CN" sz="1600">
                <a:solidFill>
                  <a:srgbClr val="333399"/>
                </a:solidFill>
              </a:rPr>
              <a:t>= 0/8= 0</a:t>
            </a:r>
            <a:endParaRPr kumimoji="1" lang="en-US" altLang="zh-CN" sz="1600">
              <a:solidFill>
                <a:srgbClr val="333399"/>
              </a:solidFill>
            </a:endParaRPr>
          </a:p>
        </p:txBody>
      </p:sp>
      <p:sp>
        <p:nvSpPr>
          <p:cNvPr id="609298" name="Text Box 18"/>
          <p:cNvSpPr txBox="1">
            <a:spLocks noChangeArrowheads="1"/>
          </p:cNvSpPr>
          <p:nvPr/>
        </p:nvSpPr>
        <p:spPr bwMode="auto">
          <a:xfrm>
            <a:off x="4830763" y="6129338"/>
            <a:ext cx="249619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000" dirty="0">
                <a:solidFill>
                  <a:srgbClr val="333399"/>
                </a:solidFill>
              </a:rPr>
              <a:t>偏移 </a:t>
            </a:r>
            <a:r>
              <a:rPr kumimoji="1" lang="en-US" altLang="zh-CN" sz="2000" dirty="0">
                <a:solidFill>
                  <a:srgbClr val="333399"/>
                </a:solidFill>
              </a:rPr>
              <a:t>= 1480/8 = 185</a:t>
            </a:r>
            <a:endParaRPr kumimoji="1" lang="en-US" altLang="zh-CN" sz="2000" dirty="0">
              <a:solidFill>
                <a:srgbClr val="333399"/>
              </a:solidFill>
            </a:endParaRPr>
          </a:p>
        </p:txBody>
      </p:sp>
      <p:sp>
        <p:nvSpPr>
          <p:cNvPr id="609299" name="Text Box 19"/>
          <p:cNvSpPr txBox="1">
            <a:spLocks noChangeArrowheads="1"/>
          </p:cNvSpPr>
          <p:nvPr/>
        </p:nvSpPr>
        <p:spPr bwMode="auto">
          <a:xfrm>
            <a:off x="7900988" y="6129338"/>
            <a:ext cx="249619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000" dirty="0">
                <a:solidFill>
                  <a:srgbClr val="333399"/>
                </a:solidFill>
              </a:rPr>
              <a:t>偏移 </a:t>
            </a:r>
            <a:r>
              <a:rPr kumimoji="1" lang="en-US" altLang="zh-CN" sz="2000" dirty="0">
                <a:solidFill>
                  <a:srgbClr val="333399"/>
                </a:solidFill>
              </a:rPr>
              <a:t>= 2960/8 = 370</a:t>
            </a:r>
            <a:endParaRPr kumimoji="1" lang="en-US" altLang="zh-CN" sz="2000" dirty="0">
              <a:solidFill>
                <a:srgbClr val="333399"/>
              </a:solidFill>
            </a:endParaRPr>
          </a:p>
        </p:txBody>
      </p:sp>
      <p:sp>
        <p:nvSpPr>
          <p:cNvPr id="609300" name="Line 20"/>
          <p:cNvSpPr>
            <a:spLocks noChangeShapeType="1"/>
          </p:cNvSpPr>
          <p:nvPr/>
        </p:nvSpPr>
        <p:spPr bwMode="auto">
          <a:xfrm flipV="1">
            <a:off x="9136208" y="3387725"/>
            <a:ext cx="0" cy="3698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9301" name="Line 21"/>
          <p:cNvSpPr>
            <a:spLocks noChangeShapeType="1"/>
          </p:cNvSpPr>
          <p:nvPr/>
        </p:nvSpPr>
        <p:spPr bwMode="auto">
          <a:xfrm flipV="1">
            <a:off x="4386263" y="3387725"/>
            <a:ext cx="0" cy="3698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9302" name="Line 22"/>
          <p:cNvSpPr>
            <a:spLocks noChangeShapeType="1"/>
          </p:cNvSpPr>
          <p:nvPr/>
        </p:nvSpPr>
        <p:spPr bwMode="auto">
          <a:xfrm flipV="1">
            <a:off x="4274611" y="5089525"/>
            <a:ext cx="0" cy="3698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9303" name="Line 23"/>
          <p:cNvSpPr>
            <a:spLocks noChangeShapeType="1"/>
          </p:cNvSpPr>
          <p:nvPr/>
        </p:nvSpPr>
        <p:spPr bwMode="auto">
          <a:xfrm flipV="1">
            <a:off x="5618554" y="5089525"/>
            <a:ext cx="0" cy="3698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9304" name="Line 24"/>
          <p:cNvSpPr>
            <a:spLocks noChangeShapeType="1"/>
          </p:cNvSpPr>
          <p:nvPr/>
        </p:nvSpPr>
        <p:spPr bwMode="auto">
          <a:xfrm flipV="1">
            <a:off x="7288213" y="5089525"/>
            <a:ext cx="0" cy="3698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9305" name="Line 25"/>
          <p:cNvSpPr>
            <a:spLocks noChangeShapeType="1"/>
          </p:cNvSpPr>
          <p:nvPr/>
        </p:nvSpPr>
        <p:spPr bwMode="auto">
          <a:xfrm flipV="1">
            <a:off x="8777245" y="5089525"/>
            <a:ext cx="0" cy="3698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9306" name="Line 26"/>
          <p:cNvSpPr>
            <a:spLocks noChangeShapeType="1"/>
          </p:cNvSpPr>
          <p:nvPr/>
        </p:nvSpPr>
        <p:spPr bwMode="auto">
          <a:xfrm flipV="1">
            <a:off x="10081636" y="5089525"/>
            <a:ext cx="0" cy="3698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9307" name="Text Box 27"/>
          <p:cNvSpPr txBox="1">
            <a:spLocks noChangeArrowheads="1"/>
          </p:cNvSpPr>
          <p:nvPr/>
        </p:nvSpPr>
        <p:spPr bwMode="auto">
          <a:xfrm>
            <a:off x="5319714" y="5365750"/>
            <a:ext cx="72327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000" dirty="0">
                <a:solidFill>
                  <a:srgbClr val="333399"/>
                </a:solidFill>
              </a:rPr>
              <a:t>1480</a:t>
            </a:r>
            <a:endParaRPr kumimoji="1" lang="en-US" altLang="zh-CN" sz="2000" dirty="0">
              <a:solidFill>
                <a:srgbClr val="333399"/>
              </a:solidFill>
            </a:endParaRPr>
          </a:p>
        </p:txBody>
      </p:sp>
      <p:sp>
        <p:nvSpPr>
          <p:cNvPr id="609308" name="Text Box 28"/>
          <p:cNvSpPr txBox="1">
            <a:spLocks noChangeArrowheads="1"/>
          </p:cNvSpPr>
          <p:nvPr/>
        </p:nvSpPr>
        <p:spPr bwMode="auto">
          <a:xfrm>
            <a:off x="8480426" y="5365750"/>
            <a:ext cx="72327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000" dirty="0">
                <a:solidFill>
                  <a:srgbClr val="333399"/>
                </a:solidFill>
              </a:rPr>
              <a:t>2960</a:t>
            </a:r>
            <a:endParaRPr kumimoji="1" lang="en-US" altLang="zh-CN" sz="2000" dirty="0">
              <a:solidFill>
                <a:srgbClr val="333399"/>
              </a:solidFill>
            </a:endParaRPr>
          </a:p>
        </p:txBody>
      </p:sp>
      <p:sp>
        <p:nvSpPr>
          <p:cNvPr id="609309" name="Text Box 29"/>
          <p:cNvSpPr txBox="1">
            <a:spLocks noChangeArrowheads="1"/>
          </p:cNvSpPr>
          <p:nvPr/>
        </p:nvSpPr>
        <p:spPr bwMode="auto">
          <a:xfrm>
            <a:off x="9623426" y="5343525"/>
            <a:ext cx="72327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000" dirty="0">
                <a:solidFill>
                  <a:srgbClr val="333399"/>
                </a:solidFill>
              </a:rPr>
              <a:t>3007</a:t>
            </a:r>
            <a:endParaRPr kumimoji="1" lang="en-US" altLang="zh-CN" sz="2000" dirty="0">
              <a:solidFill>
                <a:srgbClr val="333399"/>
              </a:solidFill>
            </a:endParaRPr>
          </a:p>
        </p:txBody>
      </p:sp>
      <p:sp>
        <p:nvSpPr>
          <p:cNvPr id="609310" name="Text Box 30"/>
          <p:cNvSpPr txBox="1">
            <a:spLocks noChangeArrowheads="1"/>
          </p:cNvSpPr>
          <p:nvPr/>
        </p:nvSpPr>
        <p:spPr bwMode="auto">
          <a:xfrm>
            <a:off x="6897689" y="5343525"/>
            <a:ext cx="78739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000" dirty="0" smtClean="0">
                <a:solidFill>
                  <a:srgbClr val="333399"/>
                </a:solidFill>
              </a:rPr>
              <a:t>2959</a:t>
            </a:r>
            <a:endParaRPr kumimoji="1" lang="en-US" altLang="zh-CN" sz="2000" dirty="0">
              <a:solidFill>
                <a:srgbClr val="333399"/>
              </a:solidFill>
            </a:endParaRPr>
          </a:p>
        </p:txBody>
      </p:sp>
      <p:sp>
        <p:nvSpPr>
          <p:cNvPr id="609311" name="Text Box 31"/>
          <p:cNvSpPr txBox="1">
            <a:spLocks noChangeArrowheads="1"/>
          </p:cNvSpPr>
          <p:nvPr/>
        </p:nvSpPr>
        <p:spPr bwMode="auto">
          <a:xfrm>
            <a:off x="3885697" y="5382750"/>
            <a:ext cx="72327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000" dirty="0">
                <a:solidFill>
                  <a:srgbClr val="333399"/>
                </a:solidFill>
              </a:rPr>
              <a:t>1479</a:t>
            </a:r>
            <a:endParaRPr kumimoji="1" lang="en-US" altLang="zh-CN" sz="2000" dirty="0">
              <a:solidFill>
                <a:srgbClr val="333399"/>
              </a:solidFill>
            </a:endParaRPr>
          </a:p>
        </p:txBody>
      </p:sp>
      <p:sp>
        <p:nvSpPr>
          <p:cNvPr id="609312" name="Text Box 32"/>
          <p:cNvSpPr txBox="1">
            <a:spLocks noChangeArrowheads="1"/>
          </p:cNvSpPr>
          <p:nvPr/>
        </p:nvSpPr>
        <p:spPr bwMode="auto">
          <a:xfrm>
            <a:off x="8656639" y="3641725"/>
            <a:ext cx="72327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000" dirty="0">
                <a:solidFill>
                  <a:srgbClr val="333399"/>
                </a:solidFill>
              </a:rPr>
              <a:t>3007</a:t>
            </a:r>
            <a:endParaRPr kumimoji="1" lang="en-US" altLang="zh-CN" sz="2000" dirty="0">
              <a:solidFill>
                <a:srgbClr val="333399"/>
              </a:solidFill>
            </a:endParaRPr>
          </a:p>
        </p:txBody>
      </p:sp>
      <p:sp>
        <p:nvSpPr>
          <p:cNvPr id="609313" name="Text Box 33"/>
          <p:cNvSpPr txBox="1">
            <a:spLocks noChangeArrowheads="1"/>
          </p:cNvSpPr>
          <p:nvPr/>
        </p:nvSpPr>
        <p:spPr bwMode="auto">
          <a:xfrm>
            <a:off x="2095044" y="2744788"/>
            <a:ext cx="1210589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zh-CN" altLang="en-US" sz="2000" dirty="0">
                <a:solidFill>
                  <a:srgbClr val="333399"/>
                </a:solidFill>
              </a:rPr>
              <a:t>需分段的</a:t>
            </a:r>
            <a:endParaRPr kumimoji="1" lang="zh-CN" altLang="en-US" sz="2000" dirty="0">
              <a:solidFill>
                <a:srgbClr val="333399"/>
              </a:solidFill>
            </a:endParaRPr>
          </a:p>
          <a:p>
            <a:pPr algn="ctr"/>
            <a:r>
              <a:rPr kumimoji="1" lang="zh-CN" altLang="en-US" sz="2000" dirty="0">
                <a:solidFill>
                  <a:srgbClr val="333399"/>
                </a:solidFill>
              </a:rPr>
              <a:t>数据报</a:t>
            </a:r>
            <a:endParaRPr kumimoji="1" lang="zh-CN" altLang="en-US" sz="2000" dirty="0">
              <a:solidFill>
                <a:srgbClr val="333399"/>
              </a:solidFill>
            </a:endParaRPr>
          </a:p>
        </p:txBody>
      </p:sp>
      <p:sp>
        <p:nvSpPr>
          <p:cNvPr id="609315" name="Text Box 35"/>
          <p:cNvSpPr txBox="1">
            <a:spLocks noChangeArrowheads="1"/>
          </p:cNvSpPr>
          <p:nvPr/>
        </p:nvSpPr>
        <p:spPr bwMode="auto">
          <a:xfrm>
            <a:off x="2371726" y="5829300"/>
            <a:ext cx="84029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000" dirty="0">
                <a:solidFill>
                  <a:srgbClr val="333399"/>
                </a:solidFill>
              </a:rPr>
              <a:t>分段</a:t>
            </a:r>
            <a:r>
              <a:rPr kumimoji="1" lang="en-US" altLang="zh-CN" sz="2000" dirty="0">
                <a:solidFill>
                  <a:srgbClr val="333399"/>
                </a:solidFill>
              </a:rPr>
              <a:t>1</a:t>
            </a:r>
            <a:endParaRPr kumimoji="1" lang="en-US" altLang="zh-CN" sz="2000" dirty="0">
              <a:solidFill>
                <a:srgbClr val="333399"/>
              </a:solidFill>
            </a:endParaRPr>
          </a:p>
        </p:txBody>
      </p:sp>
      <p:sp>
        <p:nvSpPr>
          <p:cNvPr id="609316" name="Text Box 36"/>
          <p:cNvSpPr txBox="1">
            <a:spLocks noChangeArrowheads="1"/>
          </p:cNvSpPr>
          <p:nvPr/>
        </p:nvSpPr>
        <p:spPr bwMode="auto">
          <a:xfrm>
            <a:off x="3432175" y="2959101"/>
            <a:ext cx="863600" cy="396875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000">
                <a:solidFill>
                  <a:srgbClr val="333399"/>
                </a:solidFill>
              </a:rPr>
              <a:t>首  部</a:t>
            </a:r>
            <a:endParaRPr kumimoji="1" lang="zh-CN" altLang="en-US" sz="2000">
              <a:solidFill>
                <a:srgbClr val="333399"/>
              </a:solidFill>
            </a:endParaRPr>
          </a:p>
        </p:txBody>
      </p:sp>
      <p:sp>
        <p:nvSpPr>
          <p:cNvPr id="609317" name="Line 37"/>
          <p:cNvSpPr>
            <a:spLocks noChangeShapeType="1"/>
          </p:cNvSpPr>
          <p:nvPr/>
        </p:nvSpPr>
        <p:spPr bwMode="auto">
          <a:xfrm>
            <a:off x="4302125" y="2924175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9318" name="Rectangle 38"/>
          <p:cNvSpPr>
            <a:spLocks noChangeArrowheads="1"/>
          </p:cNvSpPr>
          <p:nvPr/>
        </p:nvSpPr>
        <p:spPr bwMode="auto">
          <a:xfrm>
            <a:off x="1670050" y="4625975"/>
            <a:ext cx="877888" cy="4635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 sz="2800">
              <a:latin typeface="Tahoma" panose="020B0604030504040204" pitchFamily="34" charset="0"/>
            </a:endParaRPr>
          </a:p>
        </p:txBody>
      </p:sp>
      <p:sp>
        <p:nvSpPr>
          <p:cNvPr id="609319" name="Line 39"/>
          <p:cNvSpPr>
            <a:spLocks noChangeShapeType="1"/>
          </p:cNvSpPr>
          <p:nvPr/>
        </p:nvSpPr>
        <p:spPr bwMode="auto">
          <a:xfrm>
            <a:off x="6059488" y="2924175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9320" name="Line 40"/>
          <p:cNvSpPr>
            <a:spLocks noChangeShapeType="1"/>
          </p:cNvSpPr>
          <p:nvPr/>
        </p:nvSpPr>
        <p:spPr bwMode="auto">
          <a:xfrm>
            <a:off x="7815263" y="2924175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9321" name="Line 41"/>
          <p:cNvSpPr>
            <a:spLocks noChangeShapeType="1"/>
          </p:cNvSpPr>
          <p:nvPr/>
        </p:nvSpPr>
        <p:spPr bwMode="auto">
          <a:xfrm flipV="1">
            <a:off x="2547939" y="3381375"/>
            <a:ext cx="1747837" cy="1244600"/>
          </a:xfrm>
          <a:prstGeom prst="line">
            <a:avLst/>
          </a:prstGeom>
          <a:noFill/>
          <a:ln w="9525">
            <a:solidFill>
              <a:schemeClr val="folHlink"/>
            </a:solidFill>
            <a:prstDash val="dash"/>
            <a:round/>
            <a:head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9322" name="Line 42"/>
          <p:cNvSpPr>
            <a:spLocks noChangeShapeType="1"/>
          </p:cNvSpPr>
          <p:nvPr/>
        </p:nvSpPr>
        <p:spPr bwMode="auto">
          <a:xfrm flipV="1">
            <a:off x="4302125" y="3376613"/>
            <a:ext cx="1760538" cy="1249362"/>
          </a:xfrm>
          <a:prstGeom prst="line">
            <a:avLst/>
          </a:prstGeom>
          <a:noFill/>
          <a:ln w="9525">
            <a:solidFill>
              <a:schemeClr val="folHlink"/>
            </a:solidFill>
            <a:prstDash val="dash"/>
            <a:round/>
            <a:head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9323" name="Rectangle 43"/>
          <p:cNvSpPr>
            <a:spLocks noChangeArrowheads="1"/>
          </p:cNvSpPr>
          <p:nvPr/>
        </p:nvSpPr>
        <p:spPr bwMode="auto">
          <a:xfrm>
            <a:off x="5621339" y="4625975"/>
            <a:ext cx="1754187" cy="463550"/>
          </a:xfrm>
          <a:prstGeom prst="rect">
            <a:avLst/>
          </a:prstGeom>
          <a:solidFill>
            <a:srgbClr val="CCEC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 sz="2800">
              <a:latin typeface="Tahoma" panose="020B0604030504040204" pitchFamily="34" charset="0"/>
            </a:endParaRPr>
          </a:p>
        </p:txBody>
      </p:sp>
      <p:sp>
        <p:nvSpPr>
          <p:cNvPr id="609324" name="Line 44"/>
          <p:cNvSpPr>
            <a:spLocks noChangeShapeType="1"/>
          </p:cNvSpPr>
          <p:nvPr/>
        </p:nvSpPr>
        <p:spPr bwMode="auto">
          <a:xfrm>
            <a:off x="5795963" y="4625975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9325" name="Line 45"/>
          <p:cNvSpPr>
            <a:spLocks noChangeShapeType="1"/>
          </p:cNvSpPr>
          <p:nvPr/>
        </p:nvSpPr>
        <p:spPr bwMode="auto">
          <a:xfrm>
            <a:off x="5970588" y="4625975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9326" name="Line 46"/>
          <p:cNvSpPr>
            <a:spLocks noChangeShapeType="1"/>
          </p:cNvSpPr>
          <p:nvPr/>
        </p:nvSpPr>
        <p:spPr bwMode="auto">
          <a:xfrm>
            <a:off x="6146800" y="4625975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9327" name="Line 47"/>
          <p:cNvSpPr>
            <a:spLocks noChangeShapeType="1"/>
          </p:cNvSpPr>
          <p:nvPr/>
        </p:nvSpPr>
        <p:spPr bwMode="auto">
          <a:xfrm>
            <a:off x="7199313" y="4625975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9328" name="Rectangle 48"/>
          <p:cNvSpPr>
            <a:spLocks noChangeArrowheads="1"/>
          </p:cNvSpPr>
          <p:nvPr/>
        </p:nvSpPr>
        <p:spPr bwMode="auto">
          <a:xfrm>
            <a:off x="4743450" y="4625975"/>
            <a:ext cx="877888" cy="4635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 sz="2800">
              <a:latin typeface="Tahoma" panose="020B0604030504040204" pitchFamily="34" charset="0"/>
            </a:endParaRPr>
          </a:p>
        </p:txBody>
      </p:sp>
      <p:sp>
        <p:nvSpPr>
          <p:cNvPr id="609329" name="Line 49"/>
          <p:cNvSpPr>
            <a:spLocks noChangeShapeType="1"/>
          </p:cNvSpPr>
          <p:nvPr/>
        </p:nvSpPr>
        <p:spPr bwMode="auto">
          <a:xfrm flipV="1">
            <a:off x="5621338" y="3387725"/>
            <a:ext cx="436562" cy="1238250"/>
          </a:xfrm>
          <a:prstGeom prst="line">
            <a:avLst/>
          </a:prstGeom>
          <a:noFill/>
          <a:ln w="9525">
            <a:solidFill>
              <a:schemeClr val="folHlink"/>
            </a:solidFill>
            <a:prstDash val="dash"/>
            <a:round/>
            <a:head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9330" name="Line 50"/>
          <p:cNvSpPr>
            <a:spLocks noChangeShapeType="1"/>
          </p:cNvSpPr>
          <p:nvPr/>
        </p:nvSpPr>
        <p:spPr bwMode="auto">
          <a:xfrm flipV="1">
            <a:off x="7375526" y="3379789"/>
            <a:ext cx="430213" cy="1246187"/>
          </a:xfrm>
          <a:prstGeom prst="line">
            <a:avLst/>
          </a:prstGeom>
          <a:noFill/>
          <a:ln w="9525">
            <a:solidFill>
              <a:schemeClr val="folHlink"/>
            </a:solidFill>
            <a:prstDash val="dash"/>
            <a:round/>
            <a:head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9331" name="Rectangle 51"/>
          <p:cNvSpPr>
            <a:spLocks noChangeArrowheads="1"/>
          </p:cNvSpPr>
          <p:nvPr/>
        </p:nvSpPr>
        <p:spPr bwMode="auto">
          <a:xfrm>
            <a:off x="8780464" y="4625975"/>
            <a:ext cx="1317625" cy="463550"/>
          </a:xfrm>
          <a:prstGeom prst="rect">
            <a:avLst/>
          </a:prstGeom>
          <a:solidFill>
            <a:srgbClr val="CCEC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 sz="2800">
              <a:latin typeface="Tahoma" panose="020B0604030504040204" pitchFamily="34" charset="0"/>
            </a:endParaRPr>
          </a:p>
        </p:txBody>
      </p:sp>
      <p:sp>
        <p:nvSpPr>
          <p:cNvPr id="609332" name="Line 52"/>
          <p:cNvSpPr>
            <a:spLocks noChangeShapeType="1"/>
          </p:cNvSpPr>
          <p:nvPr/>
        </p:nvSpPr>
        <p:spPr bwMode="auto">
          <a:xfrm>
            <a:off x="8956675" y="4625975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9333" name="Line 53"/>
          <p:cNvSpPr>
            <a:spLocks noChangeShapeType="1"/>
          </p:cNvSpPr>
          <p:nvPr/>
        </p:nvSpPr>
        <p:spPr bwMode="auto">
          <a:xfrm>
            <a:off x="9132888" y="4625975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9334" name="Line 54"/>
          <p:cNvSpPr>
            <a:spLocks noChangeShapeType="1"/>
          </p:cNvSpPr>
          <p:nvPr/>
        </p:nvSpPr>
        <p:spPr bwMode="auto">
          <a:xfrm>
            <a:off x="9309100" y="4625975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9335" name="Line 55"/>
          <p:cNvSpPr>
            <a:spLocks noChangeShapeType="1"/>
          </p:cNvSpPr>
          <p:nvPr/>
        </p:nvSpPr>
        <p:spPr bwMode="auto">
          <a:xfrm>
            <a:off x="9923463" y="4625975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9336" name="Rectangle 56"/>
          <p:cNvSpPr>
            <a:spLocks noChangeArrowheads="1"/>
          </p:cNvSpPr>
          <p:nvPr/>
        </p:nvSpPr>
        <p:spPr bwMode="auto">
          <a:xfrm>
            <a:off x="7904163" y="4625975"/>
            <a:ext cx="876300" cy="4635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 sz="2800">
              <a:latin typeface="Tahoma" panose="020B0604030504040204" pitchFamily="34" charset="0"/>
            </a:endParaRPr>
          </a:p>
        </p:txBody>
      </p:sp>
      <p:sp>
        <p:nvSpPr>
          <p:cNvPr id="609337" name="Line 57"/>
          <p:cNvSpPr>
            <a:spLocks noChangeShapeType="1"/>
          </p:cNvSpPr>
          <p:nvPr/>
        </p:nvSpPr>
        <p:spPr bwMode="auto">
          <a:xfrm flipH="1" flipV="1">
            <a:off x="9132888" y="3389313"/>
            <a:ext cx="965200" cy="1236662"/>
          </a:xfrm>
          <a:prstGeom prst="line">
            <a:avLst/>
          </a:prstGeom>
          <a:noFill/>
          <a:ln w="9525">
            <a:solidFill>
              <a:schemeClr val="folHlink"/>
            </a:solidFill>
            <a:prstDash val="dash"/>
            <a:round/>
            <a:head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9338" name="Line 58"/>
          <p:cNvSpPr>
            <a:spLocks noChangeShapeType="1"/>
          </p:cNvSpPr>
          <p:nvPr/>
        </p:nvSpPr>
        <p:spPr bwMode="auto">
          <a:xfrm flipH="1" flipV="1">
            <a:off x="7810501" y="3375025"/>
            <a:ext cx="969963" cy="1250950"/>
          </a:xfrm>
          <a:prstGeom prst="line">
            <a:avLst/>
          </a:prstGeom>
          <a:noFill/>
          <a:ln w="9525">
            <a:solidFill>
              <a:schemeClr val="folHlink"/>
            </a:solidFill>
            <a:prstDash val="dash"/>
            <a:round/>
            <a:head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9339" name="Line 59"/>
          <p:cNvSpPr>
            <a:spLocks noChangeShapeType="1"/>
          </p:cNvSpPr>
          <p:nvPr/>
        </p:nvSpPr>
        <p:spPr bwMode="auto">
          <a:xfrm>
            <a:off x="4286251" y="2698750"/>
            <a:ext cx="48291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9340" name="Text Box 60"/>
          <p:cNvSpPr txBox="1">
            <a:spLocks noChangeArrowheads="1"/>
          </p:cNvSpPr>
          <p:nvPr/>
        </p:nvSpPr>
        <p:spPr bwMode="auto">
          <a:xfrm>
            <a:off x="5183189" y="2492375"/>
            <a:ext cx="2659702" cy="40011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000" dirty="0">
                <a:solidFill>
                  <a:srgbClr val="333399"/>
                </a:solidFill>
              </a:rPr>
              <a:t>数据部分共 </a:t>
            </a:r>
            <a:r>
              <a:rPr kumimoji="1" lang="en-US" altLang="zh-CN" sz="2000" dirty="0">
                <a:solidFill>
                  <a:srgbClr val="333399"/>
                </a:solidFill>
              </a:rPr>
              <a:t>3008 </a:t>
            </a:r>
            <a:r>
              <a:rPr kumimoji="1" lang="zh-CN" altLang="en-US" sz="2000" dirty="0">
                <a:solidFill>
                  <a:srgbClr val="333399"/>
                </a:solidFill>
              </a:rPr>
              <a:t>字节</a:t>
            </a:r>
            <a:endParaRPr kumimoji="1" lang="zh-CN" altLang="en-US" sz="2000" dirty="0">
              <a:solidFill>
                <a:srgbClr val="333399"/>
              </a:solidFill>
            </a:endParaRPr>
          </a:p>
        </p:txBody>
      </p:sp>
      <p:sp>
        <p:nvSpPr>
          <p:cNvPr id="609341" name="Text Box 61"/>
          <p:cNvSpPr txBox="1">
            <a:spLocks noChangeArrowheads="1"/>
          </p:cNvSpPr>
          <p:nvPr/>
        </p:nvSpPr>
        <p:spPr bwMode="auto">
          <a:xfrm>
            <a:off x="1670051" y="4625975"/>
            <a:ext cx="90281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000">
                <a:solidFill>
                  <a:srgbClr val="333399"/>
                </a:solidFill>
              </a:rPr>
              <a:t>首部 </a:t>
            </a:r>
            <a:r>
              <a:rPr kumimoji="1" lang="en-US" altLang="zh-CN" sz="2000">
                <a:solidFill>
                  <a:srgbClr val="333399"/>
                </a:solidFill>
              </a:rPr>
              <a:t>1</a:t>
            </a:r>
            <a:endParaRPr kumimoji="1" lang="en-US" altLang="zh-CN" sz="2000">
              <a:solidFill>
                <a:srgbClr val="333399"/>
              </a:solidFill>
            </a:endParaRPr>
          </a:p>
        </p:txBody>
      </p:sp>
      <p:sp>
        <p:nvSpPr>
          <p:cNvPr id="609342" name="Text Box 62"/>
          <p:cNvSpPr txBox="1">
            <a:spLocks noChangeArrowheads="1"/>
          </p:cNvSpPr>
          <p:nvPr/>
        </p:nvSpPr>
        <p:spPr bwMode="auto">
          <a:xfrm>
            <a:off x="4713289" y="4625975"/>
            <a:ext cx="90281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000">
                <a:solidFill>
                  <a:srgbClr val="333399"/>
                </a:solidFill>
              </a:rPr>
              <a:t>首部 </a:t>
            </a:r>
            <a:r>
              <a:rPr kumimoji="1" lang="en-US" altLang="zh-CN" sz="2000">
                <a:solidFill>
                  <a:srgbClr val="333399"/>
                </a:solidFill>
              </a:rPr>
              <a:t>2</a:t>
            </a:r>
            <a:endParaRPr kumimoji="1" lang="en-US" altLang="zh-CN" sz="2000">
              <a:solidFill>
                <a:srgbClr val="333399"/>
              </a:solidFill>
            </a:endParaRPr>
          </a:p>
        </p:txBody>
      </p:sp>
      <p:sp>
        <p:nvSpPr>
          <p:cNvPr id="609343" name="Text Box 63"/>
          <p:cNvSpPr txBox="1">
            <a:spLocks noChangeArrowheads="1"/>
          </p:cNvSpPr>
          <p:nvPr/>
        </p:nvSpPr>
        <p:spPr bwMode="auto">
          <a:xfrm>
            <a:off x="7874001" y="4625975"/>
            <a:ext cx="90281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000">
                <a:solidFill>
                  <a:srgbClr val="333399"/>
                </a:solidFill>
              </a:rPr>
              <a:t>首部 </a:t>
            </a:r>
            <a:r>
              <a:rPr kumimoji="1" lang="en-US" altLang="zh-CN" sz="2000">
                <a:solidFill>
                  <a:srgbClr val="333399"/>
                </a:solidFill>
              </a:rPr>
              <a:t>3</a:t>
            </a:r>
            <a:endParaRPr kumimoji="1" lang="en-US" altLang="zh-CN" sz="2000">
              <a:solidFill>
                <a:srgbClr val="333399"/>
              </a:solidFill>
            </a:endParaRPr>
          </a:p>
        </p:txBody>
      </p:sp>
      <p:sp>
        <p:nvSpPr>
          <p:cNvPr id="609344" name="Line 64"/>
          <p:cNvSpPr>
            <a:spLocks noChangeShapeType="1"/>
          </p:cNvSpPr>
          <p:nvPr/>
        </p:nvSpPr>
        <p:spPr bwMode="auto">
          <a:xfrm flipV="1">
            <a:off x="2547938" y="5089525"/>
            <a:ext cx="0" cy="3698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9345" name="Text Box 65"/>
          <p:cNvSpPr txBox="1">
            <a:spLocks noChangeArrowheads="1"/>
          </p:cNvSpPr>
          <p:nvPr/>
        </p:nvSpPr>
        <p:spPr bwMode="auto">
          <a:xfrm>
            <a:off x="1813720" y="5384368"/>
            <a:ext cx="9032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000">
                <a:solidFill>
                  <a:srgbClr val="333399"/>
                </a:solidFill>
              </a:rPr>
              <a:t>字节 </a:t>
            </a:r>
            <a:r>
              <a:rPr kumimoji="1" lang="en-US" altLang="zh-CN" sz="2000">
                <a:solidFill>
                  <a:srgbClr val="333399"/>
                </a:solidFill>
              </a:rPr>
              <a:t>0</a:t>
            </a:r>
            <a:endParaRPr kumimoji="1" lang="en-US" altLang="zh-CN" sz="2000">
              <a:solidFill>
                <a:srgbClr val="333399"/>
              </a:solidFill>
            </a:endParaRPr>
          </a:p>
        </p:txBody>
      </p:sp>
      <p:sp>
        <p:nvSpPr>
          <p:cNvPr id="609346" name="Text Box 66"/>
          <p:cNvSpPr txBox="1">
            <a:spLocks noChangeArrowheads="1"/>
          </p:cNvSpPr>
          <p:nvPr/>
        </p:nvSpPr>
        <p:spPr bwMode="auto">
          <a:xfrm>
            <a:off x="5384801" y="5824538"/>
            <a:ext cx="84029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000" dirty="0">
                <a:solidFill>
                  <a:srgbClr val="333399"/>
                </a:solidFill>
              </a:rPr>
              <a:t>分段</a:t>
            </a:r>
            <a:r>
              <a:rPr kumimoji="1" lang="en-US" altLang="zh-CN" sz="2000" dirty="0">
                <a:solidFill>
                  <a:srgbClr val="333399"/>
                </a:solidFill>
              </a:rPr>
              <a:t>2</a:t>
            </a:r>
            <a:endParaRPr kumimoji="1" lang="en-US" altLang="zh-CN" sz="2000" dirty="0">
              <a:solidFill>
                <a:srgbClr val="333399"/>
              </a:solidFill>
            </a:endParaRPr>
          </a:p>
        </p:txBody>
      </p:sp>
      <p:sp>
        <p:nvSpPr>
          <p:cNvPr id="609347" name="Text Box 67"/>
          <p:cNvSpPr txBox="1">
            <a:spLocks noChangeArrowheads="1"/>
          </p:cNvSpPr>
          <p:nvPr/>
        </p:nvSpPr>
        <p:spPr bwMode="auto">
          <a:xfrm>
            <a:off x="8283576" y="5824538"/>
            <a:ext cx="84029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000" dirty="0">
                <a:solidFill>
                  <a:srgbClr val="333399"/>
                </a:solidFill>
              </a:rPr>
              <a:t>分段</a:t>
            </a:r>
            <a:r>
              <a:rPr kumimoji="1" lang="en-US" altLang="zh-CN" sz="2000" dirty="0">
                <a:solidFill>
                  <a:srgbClr val="333399"/>
                </a:solidFill>
              </a:rPr>
              <a:t>3</a:t>
            </a:r>
            <a:endParaRPr kumimoji="1" lang="en-US" altLang="zh-CN" sz="2000" dirty="0">
              <a:solidFill>
                <a:srgbClr val="333399"/>
              </a:solidFill>
            </a:endParaRPr>
          </a:p>
        </p:txBody>
      </p:sp>
      <p:sp>
        <p:nvSpPr>
          <p:cNvPr id="609348" name="Line 68"/>
          <p:cNvSpPr>
            <a:spLocks noChangeShapeType="1"/>
          </p:cNvSpPr>
          <p:nvPr/>
        </p:nvSpPr>
        <p:spPr bwMode="auto">
          <a:xfrm flipV="1">
            <a:off x="6078861" y="3387725"/>
            <a:ext cx="0" cy="3698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9349" name="Text Box 69"/>
          <p:cNvSpPr txBox="1">
            <a:spLocks noChangeArrowheads="1"/>
          </p:cNvSpPr>
          <p:nvPr/>
        </p:nvSpPr>
        <p:spPr bwMode="auto">
          <a:xfrm>
            <a:off x="5743576" y="3660776"/>
            <a:ext cx="7477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000" dirty="0">
                <a:solidFill>
                  <a:srgbClr val="333399"/>
                </a:solidFill>
              </a:rPr>
              <a:t>1480</a:t>
            </a:r>
            <a:endParaRPr kumimoji="1" lang="en-US" altLang="zh-CN" sz="2000" dirty="0">
              <a:solidFill>
                <a:srgbClr val="333399"/>
              </a:solidFill>
            </a:endParaRPr>
          </a:p>
        </p:txBody>
      </p:sp>
      <p:sp>
        <p:nvSpPr>
          <p:cNvPr id="609350" name="Line 70"/>
          <p:cNvSpPr>
            <a:spLocks noChangeShapeType="1"/>
          </p:cNvSpPr>
          <p:nvPr/>
        </p:nvSpPr>
        <p:spPr bwMode="auto">
          <a:xfrm flipV="1">
            <a:off x="7817718" y="3387725"/>
            <a:ext cx="0" cy="3698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9351" name="Text Box 71"/>
          <p:cNvSpPr txBox="1">
            <a:spLocks noChangeArrowheads="1"/>
          </p:cNvSpPr>
          <p:nvPr/>
        </p:nvSpPr>
        <p:spPr bwMode="auto">
          <a:xfrm>
            <a:off x="7515226" y="3660776"/>
            <a:ext cx="72327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000" dirty="0">
                <a:solidFill>
                  <a:srgbClr val="333399"/>
                </a:solidFill>
              </a:rPr>
              <a:t>2960</a:t>
            </a:r>
            <a:endParaRPr kumimoji="1" lang="en-US" altLang="zh-CN" sz="2000" dirty="0">
              <a:solidFill>
                <a:srgbClr val="333399"/>
              </a:solidFill>
            </a:endParaRPr>
          </a:p>
        </p:txBody>
      </p:sp>
      <p:sp>
        <p:nvSpPr>
          <p:cNvPr id="609352" name="Line 72"/>
          <p:cNvSpPr>
            <a:spLocks noChangeShapeType="1"/>
          </p:cNvSpPr>
          <p:nvPr/>
        </p:nvSpPr>
        <p:spPr bwMode="auto">
          <a:xfrm>
            <a:off x="7989888" y="2924175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9353" name="Line 73"/>
          <p:cNvSpPr>
            <a:spLocks noChangeShapeType="1"/>
          </p:cNvSpPr>
          <p:nvPr/>
        </p:nvSpPr>
        <p:spPr bwMode="auto">
          <a:xfrm>
            <a:off x="6235700" y="2924175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9354" name="Text Box 74"/>
          <p:cNvSpPr txBox="1">
            <a:spLocks noChangeArrowheads="1"/>
          </p:cNvSpPr>
          <p:nvPr/>
        </p:nvSpPr>
        <p:spPr bwMode="auto">
          <a:xfrm>
            <a:off x="3630613" y="3681414"/>
            <a:ext cx="9017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000">
                <a:solidFill>
                  <a:srgbClr val="333399"/>
                </a:solidFill>
              </a:rPr>
              <a:t>字节 </a:t>
            </a:r>
            <a:r>
              <a:rPr kumimoji="1" lang="en-US" altLang="zh-CN" sz="2000">
                <a:solidFill>
                  <a:srgbClr val="333399"/>
                </a:solidFill>
              </a:rPr>
              <a:t>0</a:t>
            </a:r>
            <a:endParaRPr kumimoji="1" lang="en-US" altLang="zh-CN" sz="2000">
              <a:solidFill>
                <a:srgbClr val="333399"/>
              </a:solidFill>
            </a:endParaRPr>
          </a:p>
        </p:txBody>
      </p:sp>
      <p:cxnSp>
        <p:nvCxnSpPr>
          <p:cNvPr id="77" name="直接连接符 76"/>
          <p:cNvCxnSpPr/>
          <p:nvPr/>
        </p:nvCxnSpPr>
        <p:spPr>
          <a:xfrm>
            <a:off x="1707195" y="908720"/>
            <a:ext cx="8820472" cy="0"/>
          </a:xfrm>
          <a:prstGeom prst="line">
            <a:avLst/>
          </a:prstGeom>
          <a:ln>
            <a:gradFill flip="none" rotWithShape="1">
              <a:gsLst>
                <a:gs pos="0">
                  <a:srgbClr val="FFF200"/>
                </a:gs>
                <a:gs pos="45000">
                  <a:srgbClr val="FF7A00"/>
                </a:gs>
                <a:gs pos="70000">
                  <a:srgbClr val="FF0300"/>
                </a:gs>
                <a:gs pos="100000">
                  <a:srgbClr val="4D0808"/>
                </a:gs>
              </a:gsLst>
              <a:lin ang="10800000" scaled="1"/>
              <a:tileRect/>
            </a:gra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D038C-77E5-4157-B19D-0527E2483AAF}" type="slidenum">
              <a:rPr lang="en-US" altLang="zh-CN"/>
            </a:fld>
            <a:endParaRPr lang="en-US" altLang="zh-CN"/>
          </a:p>
        </p:txBody>
      </p:sp>
      <p:sp>
        <p:nvSpPr>
          <p:cNvPr id="611330" name="Rectangle 2"/>
          <p:cNvSpPr>
            <a:spLocks noGrp="1" noChangeArrowheads="1"/>
          </p:cNvSpPr>
          <p:nvPr>
            <p:ph type="title"/>
          </p:nvPr>
        </p:nvSpPr>
        <p:spPr>
          <a:xfrm>
            <a:off x="1822450" y="228600"/>
            <a:ext cx="8540750" cy="608112"/>
          </a:xfrm>
        </p:spPr>
        <p:txBody>
          <a:bodyPr>
            <a:normAutofit fontScale="90000"/>
          </a:bodyPr>
          <a:lstStyle/>
          <a:p>
            <a:r>
              <a:rPr lang="zh-CN" altLang="en-US" sz="4000" b="1" dirty="0">
                <a:solidFill>
                  <a:srgbClr val="C00000"/>
                </a:solidFill>
              </a:rPr>
              <a:t>分片后有关字段的变化</a:t>
            </a:r>
            <a:endParaRPr lang="zh-CN" altLang="en-US" sz="4000" b="1" dirty="0">
              <a:solidFill>
                <a:srgbClr val="C00000"/>
              </a:solidFill>
            </a:endParaRPr>
          </a:p>
        </p:txBody>
      </p:sp>
      <p:graphicFrame>
        <p:nvGraphicFramePr>
          <p:cNvPr id="611389" name="Group 61"/>
          <p:cNvGraphicFramePr>
            <a:graphicFrameLocks noGrp="1"/>
          </p:cNvGraphicFramePr>
          <p:nvPr>
            <p:ph idx="1"/>
          </p:nvPr>
        </p:nvGraphicFramePr>
        <p:xfrm>
          <a:off x="1774825" y="1295400"/>
          <a:ext cx="8642350" cy="2286000"/>
        </p:xfrm>
        <a:graphic>
          <a:graphicData uri="http://schemas.openxmlformats.org/drawingml/2006/table">
            <a:tbl>
              <a:tblPr/>
              <a:tblGrid>
                <a:gridCol w="1657350"/>
                <a:gridCol w="1584325"/>
                <a:gridCol w="1511300"/>
                <a:gridCol w="1223963"/>
                <a:gridCol w="1225550"/>
                <a:gridCol w="1439862"/>
              </a:tblGrid>
              <a:tr h="3603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总长度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标识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MF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DF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偏移量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03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原数据报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12345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87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数据报片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12345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03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数据报片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12345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03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数据报片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12345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cxnSp>
        <p:nvCxnSpPr>
          <p:cNvPr id="9" name="直接连接符 8"/>
          <p:cNvCxnSpPr/>
          <p:nvPr/>
        </p:nvCxnSpPr>
        <p:spPr>
          <a:xfrm>
            <a:off x="1731641" y="980728"/>
            <a:ext cx="8820472" cy="0"/>
          </a:xfrm>
          <a:prstGeom prst="line">
            <a:avLst/>
          </a:prstGeom>
          <a:ln>
            <a:gradFill flip="none" rotWithShape="1">
              <a:gsLst>
                <a:gs pos="0">
                  <a:srgbClr val="FFF200"/>
                </a:gs>
                <a:gs pos="45000">
                  <a:srgbClr val="FF7A00"/>
                </a:gs>
                <a:gs pos="70000">
                  <a:srgbClr val="FF0300"/>
                </a:gs>
                <a:gs pos="100000">
                  <a:srgbClr val="4D0808"/>
                </a:gs>
              </a:gsLst>
              <a:lin ang="10800000" scaled="1"/>
              <a:tileRect/>
            </a:gra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4C0A9-94F8-43DF-A234-77D3CE51AE51}" type="slidenum">
              <a:rPr lang="en-US" altLang="zh-CN"/>
            </a:fld>
            <a:endParaRPr lang="en-US" altLang="zh-CN"/>
          </a:p>
        </p:txBody>
      </p:sp>
      <p:sp>
        <p:nvSpPr>
          <p:cNvPr id="473090" name="Rectangle 2"/>
          <p:cNvSpPr>
            <a:spLocks noGrp="1" noChangeArrowheads="1"/>
          </p:cNvSpPr>
          <p:nvPr>
            <p:ph type="title"/>
          </p:nvPr>
        </p:nvSpPr>
        <p:spPr>
          <a:xfrm>
            <a:off x="1993900" y="-141287"/>
            <a:ext cx="8229600" cy="1143000"/>
          </a:xfrm>
        </p:spPr>
        <p:txBody>
          <a:bodyPr/>
          <a:lstStyle/>
          <a:p>
            <a:r>
              <a:rPr lang="en-US" altLang="zh-CN" sz="4000" b="1" dirty="0">
                <a:solidFill>
                  <a:srgbClr val="C00000"/>
                </a:solidFill>
              </a:rPr>
              <a:t>IPv4</a:t>
            </a:r>
            <a:r>
              <a:rPr lang="zh-CN" altLang="en-US" sz="4000" b="1" dirty="0">
                <a:solidFill>
                  <a:srgbClr val="C00000"/>
                </a:solidFill>
              </a:rPr>
              <a:t>报文格式</a:t>
            </a:r>
            <a:r>
              <a:rPr lang="en-US" altLang="zh-CN" sz="4000" b="1" dirty="0">
                <a:solidFill>
                  <a:srgbClr val="C00000"/>
                </a:solidFill>
              </a:rPr>
              <a:t>(7)</a:t>
            </a:r>
            <a:endParaRPr lang="en-US" altLang="zh-CN" sz="4000" b="1" dirty="0">
              <a:solidFill>
                <a:srgbClr val="C00000"/>
              </a:solidFill>
            </a:endParaRPr>
          </a:p>
        </p:txBody>
      </p:sp>
      <p:sp>
        <p:nvSpPr>
          <p:cNvPr id="473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87525" y="3573017"/>
            <a:ext cx="8642350" cy="2376263"/>
          </a:xfrm>
        </p:spPr>
        <p:txBody>
          <a:bodyPr/>
          <a:lstStyle/>
          <a:p>
            <a:pPr>
              <a:lnSpc>
                <a:spcPct val="90000"/>
              </a:lnSpc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生存时间</a:t>
            </a:r>
            <a:r>
              <a:rPr lang="en-US" altLang="zh-CN" sz="3000" dirty="0">
                <a:latin typeface="楷体" panose="02010609060101010101" pitchFamily="49" charset="-122"/>
                <a:ea typeface="楷体" panose="02010609060101010101" pitchFamily="49" charset="-122"/>
              </a:rPr>
              <a:t>(8)</a:t>
            </a: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： </a:t>
            </a:r>
            <a:r>
              <a:rPr lang="en-US" altLang="zh-CN" sz="3000" dirty="0">
                <a:latin typeface="楷体" panose="02010609060101010101" pitchFamily="49" charset="-122"/>
                <a:ea typeface="楷体" panose="02010609060101010101" pitchFamily="49" charset="-122"/>
              </a:rPr>
              <a:t>TTL</a:t>
            </a: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字段设置了数据报可以经过的最多路由器数量。经过一个路由器，它的值就减去</a:t>
            </a:r>
            <a:r>
              <a:rPr lang="en-US" altLang="zh-CN" sz="30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。当该字段的值为</a:t>
            </a:r>
            <a:r>
              <a:rPr lang="en-US" altLang="zh-CN" sz="3000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时，该数据报被丢弃。</a:t>
            </a:r>
            <a:endParaRPr lang="zh-CN" altLang="en-US" sz="3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通常生存时间的起始值是</a:t>
            </a:r>
            <a:r>
              <a:rPr lang="en-US" altLang="zh-CN" dirty="0"/>
              <a:t>32</a:t>
            </a:r>
            <a:r>
              <a:rPr lang="zh-CN" altLang="en-US" dirty="0"/>
              <a:t>、</a:t>
            </a:r>
            <a:r>
              <a:rPr lang="en-US" altLang="zh-CN" dirty="0"/>
              <a:t>64</a:t>
            </a:r>
            <a:r>
              <a:rPr lang="zh-CN" altLang="en-US" dirty="0"/>
              <a:t>、</a:t>
            </a:r>
            <a:r>
              <a:rPr lang="en-US" altLang="zh-CN" dirty="0"/>
              <a:t>128</a:t>
            </a:r>
            <a:endParaRPr lang="en-US" altLang="zh-CN" dirty="0"/>
          </a:p>
        </p:txBody>
      </p:sp>
      <p:pic>
        <p:nvPicPr>
          <p:cNvPr id="473092" name="Picture 4" descr="Picture1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4384" y="1076114"/>
            <a:ext cx="8089900" cy="2210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3093" name="Rectangle 5"/>
          <p:cNvSpPr>
            <a:spLocks noChangeArrowheads="1"/>
          </p:cNvSpPr>
          <p:nvPr/>
        </p:nvSpPr>
        <p:spPr bwMode="auto">
          <a:xfrm>
            <a:off x="2279576" y="2032977"/>
            <a:ext cx="1873250" cy="287337"/>
          </a:xfrm>
          <a:prstGeom prst="rect">
            <a:avLst/>
          </a:prstGeom>
          <a:noFill/>
          <a:ln w="28575" algn="ctr">
            <a:solidFill>
              <a:srgbClr val="FF33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/>
          </a:p>
        </p:txBody>
      </p:sp>
      <p:cxnSp>
        <p:nvCxnSpPr>
          <p:cNvPr id="10" name="直接连接符 9"/>
          <p:cNvCxnSpPr/>
          <p:nvPr/>
        </p:nvCxnSpPr>
        <p:spPr>
          <a:xfrm>
            <a:off x="1685764" y="764704"/>
            <a:ext cx="8820472" cy="0"/>
          </a:xfrm>
          <a:prstGeom prst="line">
            <a:avLst/>
          </a:prstGeom>
          <a:ln>
            <a:gradFill flip="none" rotWithShape="1">
              <a:gsLst>
                <a:gs pos="0">
                  <a:srgbClr val="FFF200"/>
                </a:gs>
                <a:gs pos="45000">
                  <a:srgbClr val="FF7A00"/>
                </a:gs>
                <a:gs pos="70000">
                  <a:srgbClr val="FF0300"/>
                </a:gs>
                <a:gs pos="100000">
                  <a:srgbClr val="4D0808"/>
                </a:gs>
              </a:gsLst>
              <a:lin ang="10800000" scaled="1"/>
              <a:tileRect/>
            </a:gra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C5023-34F3-4C93-B472-ECFADD6352AB}" type="slidenum">
              <a:rPr lang="en-US" altLang="zh-CN"/>
            </a:fld>
            <a:endParaRPr lang="en-US" altLang="zh-CN"/>
          </a:p>
        </p:txBody>
      </p:sp>
      <p:sp>
        <p:nvSpPr>
          <p:cNvPr id="618498" name="Rectangle 2"/>
          <p:cNvSpPr>
            <a:spLocks noGrp="1" noChangeArrowheads="1"/>
          </p:cNvSpPr>
          <p:nvPr>
            <p:ph type="title"/>
          </p:nvPr>
        </p:nvSpPr>
        <p:spPr>
          <a:xfrm>
            <a:off x="1971675" y="-117225"/>
            <a:ext cx="8229600" cy="985588"/>
          </a:xfrm>
        </p:spPr>
        <p:txBody>
          <a:bodyPr/>
          <a:lstStyle/>
          <a:p>
            <a:r>
              <a:rPr lang="en-US" altLang="zh-CN" sz="4000" b="1" dirty="0">
                <a:solidFill>
                  <a:srgbClr val="C00000"/>
                </a:solidFill>
              </a:rPr>
              <a:t>IPv4</a:t>
            </a:r>
            <a:r>
              <a:rPr lang="zh-CN" altLang="en-US" sz="4000" b="1" dirty="0">
                <a:solidFill>
                  <a:srgbClr val="C00000"/>
                </a:solidFill>
              </a:rPr>
              <a:t>报文格式</a:t>
            </a:r>
            <a:r>
              <a:rPr lang="en-US" altLang="zh-CN" sz="4000" b="1" dirty="0">
                <a:solidFill>
                  <a:srgbClr val="C00000"/>
                </a:solidFill>
              </a:rPr>
              <a:t>(8)</a:t>
            </a:r>
            <a:endParaRPr lang="en-US" altLang="zh-CN" sz="4000" b="1" dirty="0">
              <a:solidFill>
                <a:srgbClr val="C00000"/>
              </a:solidFill>
            </a:endParaRPr>
          </a:p>
        </p:txBody>
      </p:sp>
      <p:sp>
        <p:nvSpPr>
          <p:cNvPr id="6184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75520" y="3140968"/>
            <a:ext cx="8642350" cy="791716"/>
          </a:xfrm>
        </p:spPr>
        <p:txBody>
          <a:bodyPr/>
          <a:lstStyle/>
          <a:p>
            <a:pPr>
              <a:lnSpc>
                <a:spcPct val="90000"/>
              </a:lnSpc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协议字段</a:t>
            </a:r>
            <a:r>
              <a:rPr lang="en-US" altLang="zh-CN" sz="3000" dirty="0">
                <a:latin typeface="楷体" panose="02010609060101010101" pitchFamily="49" charset="-122"/>
                <a:ea typeface="楷体" panose="02010609060101010101" pitchFamily="49" charset="-122"/>
              </a:rPr>
              <a:t>(8)</a:t>
            </a: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en-US" altLang="zh-CN" sz="3000" dirty="0">
                <a:latin typeface="楷体" panose="02010609060101010101" pitchFamily="49" charset="-122"/>
                <a:ea typeface="楷体" panose="02010609060101010101" pitchFamily="49" charset="-122"/>
              </a:rPr>
              <a:t>IP</a:t>
            </a: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数据报的上层携带的协议。</a:t>
            </a:r>
            <a:endParaRPr lang="zh-CN" altLang="en-US" sz="3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618500" name="Picture 4" descr="Picture1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050" y="777875"/>
            <a:ext cx="8089900" cy="1943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8501" name="Rectangle 5"/>
          <p:cNvSpPr>
            <a:spLocks noChangeArrowheads="1"/>
          </p:cNvSpPr>
          <p:nvPr/>
        </p:nvSpPr>
        <p:spPr bwMode="auto">
          <a:xfrm>
            <a:off x="4151313" y="1593331"/>
            <a:ext cx="1873250" cy="287337"/>
          </a:xfrm>
          <a:prstGeom prst="rect">
            <a:avLst/>
          </a:prstGeom>
          <a:noFill/>
          <a:ln w="28575" algn="ctr">
            <a:solidFill>
              <a:srgbClr val="FF33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/>
          </a:p>
        </p:txBody>
      </p:sp>
      <p:graphicFrame>
        <p:nvGraphicFramePr>
          <p:cNvPr id="618631" name="Group 135"/>
          <p:cNvGraphicFramePr>
            <a:graphicFrameLocks noGrp="1"/>
          </p:cNvGraphicFramePr>
          <p:nvPr/>
        </p:nvGraphicFramePr>
        <p:xfrm>
          <a:off x="1847529" y="4005064"/>
          <a:ext cx="8281987" cy="1944216"/>
        </p:xfrm>
        <a:graphic>
          <a:graphicData uri="http://schemas.openxmlformats.org/drawingml/2006/table">
            <a:tbl>
              <a:tblPr/>
              <a:tblGrid>
                <a:gridCol w="1628775"/>
                <a:gridCol w="830262"/>
                <a:gridCol w="831850"/>
                <a:gridCol w="831850"/>
                <a:gridCol w="833438"/>
                <a:gridCol w="831850"/>
                <a:gridCol w="831850"/>
                <a:gridCol w="830262"/>
                <a:gridCol w="831850"/>
              </a:tblGrid>
              <a:tr h="716729">
                <a:tc gridSpan="9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常用协议字段值</a:t>
                      </a:r>
                      <a:endParaRPr kumimoji="0" lang="zh-CN" alt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61264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协议名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ICMP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IGMP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TCP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EGP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IGP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UDP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IPv6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OSPF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1484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协议字段值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17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89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cxnSp>
        <p:nvCxnSpPr>
          <p:cNvPr id="10" name="直接连接符 9"/>
          <p:cNvCxnSpPr/>
          <p:nvPr/>
        </p:nvCxnSpPr>
        <p:spPr>
          <a:xfrm>
            <a:off x="1524000" y="620688"/>
            <a:ext cx="8820472" cy="0"/>
          </a:xfrm>
          <a:prstGeom prst="line">
            <a:avLst/>
          </a:prstGeom>
          <a:ln>
            <a:gradFill flip="none" rotWithShape="1">
              <a:gsLst>
                <a:gs pos="0">
                  <a:srgbClr val="FFF200"/>
                </a:gs>
                <a:gs pos="45000">
                  <a:srgbClr val="FF7A00"/>
                </a:gs>
                <a:gs pos="70000">
                  <a:srgbClr val="FF0300"/>
                </a:gs>
                <a:gs pos="100000">
                  <a:srgbClr val="4D0808"/>
                </a:gs>
              </a:gsLst>
              <a:lin ang="10800000" scaled="1"/>
              <a:tileRect/>
            </a:gra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CE511-8B08-4A9E-9F61-CF10381D1283}" type="slidenum">
              <a:rPr lang="en-US" altLang="zh-CN"/>
            </a:fld>
            <a:endParaRPr lang="en-US" altLang="zh-CN"/>
          </a:p>
        </p:txBody>
      </p:sp>
      <p:sp>
        <p:nvSpPr>
          <p:cNvPr id="502786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en-US" altLang="zh-CN" sz="4000" b="1" dirty="0">
                <a:solidFill>
                  <a:srgbClr val="C00000"/>
                </a:solidFill>
              </a:rPr>
              <a:t>IPv6</a:t>
            </a:r>
            <a:r>
              <a:rPr lang="zh-CN" altLang="en-US" sz="4000" b="1" dirty="0">
                <a:solidFill>
                  <a:srgbClr val="C00000"/>
                </a:solidFill>
              </a:rPr>
              <a:t>报文格式</a:t>
            </a:r>
            <a:endParaRPr lang="zh-CN" altLang="en-US" sz="4000" b="1" dirty="0">
              <a:solidFill>
                <a:srgbClr val="C00000"/>
              </a:solidFill>
            </a:endParaRPr>
          </a:p>
        </p:txBody>
      </p:sp>
      <p:grpSp>
        <p:nvGrpSpPr>
          <p:cNvPr id="502936" name="Group 152"/>
          <p:cNvGrpSpPr/>
          <p:nvPr/>
        </p:nvGrpSpPr>
        <p:grpSpPr bwMode="auto">
          <a:xfrm>
            <a:off x="1812926" y="908051"/>
            <a:ext cx="8823325" cy="4105275"/>
            <a:chOff x="182" y="572"/>
            <a:chExt cx="5558" cy="2586"/>
          </a:xfrm>
        </p:grpSpPr>
        <p:sp>
          <p:nvSpPr>
            <p:cNvPr id="502864" name="Rectangle 80"/>
            <p:cNvSpPr>
              <a:spLocks noChangeArrowheads="1"/>
            </p:cNvSpPr>
            <p:nvPr/>
          </p:nvSpPr>
          <p:spPr bwMode="auto">
            <a:xfrm>
              <a:off x="182" y="572"/>
              <a:ext cx="52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71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14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286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zh-CN" altLang="en-US" sz="20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位 </a:t>
              </a:r>
              <a:r>
                <a:rPr lang="en-US" altLang="zh-CN" sz="20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0                          8                        16                        24                    31</a:t>
              </a:r>
              <a:endParaRPr lang="en-US" altLang="zh-CN" sz="20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502793" name="Line 9"/>
            <p:cNvSpPr>
              <a:spLocks noChangeShapeType="1"/>
            </p:cNvSpPr>
            <p:nvPr/>
          </p:nvSpPr>
          <p:spPr bwMode="auto">
            <a:xfrm flipH="1">
              <a:off x="5511" y="1026"/>
              <a:ext cx="0" cy="2132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794" name="Rectangle 10"/>
            <p:cNvSpPr>
              <a:spLocks noChangeArrowheads="1"/>
            </p:cNvSpPr>
            <p:nvPr/>
          </p:nvSpPr>
          <p:spPr bwMode="auto">
            <a:xfrm>
              <a:off x="5302" y="1803"/>
              <a:ext cx="438" cy="4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71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14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286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lnSpc>
                  <a:spcPct val="90000"/>
                </a:lnSpc>
              </a:pPr>
              <a:r>
                <a:rPr lang="en-US" altLang="zh-CN" sz="20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40</a:t>
              </a:r>
              <a:endParaRPr lang="en-US" altLang="zh-CN" sz="20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  <a:p>
              <a:pPr algn="ctr" eaLnBrk="0" hangingPunct="0">
                <a:lnSpc>
                  <a:spcPct val="90000"/>
                </a:lnSpc>
              </a:pPr>
              <a:r>
                <a:rPr lang="zh-CN" altLang="en-US" sz="20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字节</a:t>
              </a:r>
              <a:endParaRPr lang="zh-CN" altLang="en-US" sz="20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502795" name="Rectangle 11"/>
            <p:cNvSpPr>
              <a:spLocks noChangeArrowheads="1"/>
            </p:cNvSpPr>
            <p:nvPr/>
          </p:nvSpPr>
          <p:spPr bwMode="auto">
            <a:xfrm>
              <a:off x="432" y="1034"/>
              <a:ext cx="4842" cy="2124"/>
            </a:xfrm>
            <a:prstGeom prst="rect">
              <a:avLst/>
            </a:prstGeom>
            <a:solidFill>
              <a:srgbClr val="EAEAEA"/>
            </a:solidFill>
            <a:ln w="2540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/>
            </a:p>
          </p:txBody>
        </p:sp>
        <p:sp>
          <p:nvSpPr>
            <p:cNvPr id="502799" name="Line 15"/>
            <p:cNvSpPr>
              <a:spLocks noChangeShapeType="1"/>
            </p:cNvSpPr>
            <p:nvPr/>
          </p:nvSpPr>
          <p:spPr bwMode="auto">
            <a:xfrm>
              <a:off x="431" y="2341"/>
              <a:ext cx="485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802" name="Rectangle 18"/>
            <p:cNvSpPr>
              <a:spLocks noChangeArrowheads="1"/>
            </p:cNvSpPr>
            <p:nvPr/>
          </p:nvSpPr>
          <p:spPr bwMode="auto">
            <a:xfrm>
              <a:off x="3361" y="1026"/>
              <a:ext cx="60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71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14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286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zh-CN" altLang="en-US" sz="20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流标记</a:t>
              </a:r>
              <a:endParaRPr lang="zh-CN" altLang="en-US" sz="20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502806" name="Rectangle 22"/>
            <p:cNvSpPr>
              <a:spLocks noChangeArrowheads="1"/>
            </p:cNvSpPr>
            <p:nvPr/>
          </p:nvSpPr>
          <p:spPr bwMode="auto">
            <a:xfrm>
              <a:off x="1278" y="1026"/>
              <a:ext cx="76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71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14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286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zh-CN" altLang="en-US" sz="2000" dirty="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通信类型</a:t>
              </a:r>
              <a:endPara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502821" name="Line 37"/>
            <p:cNvSpPr>
              <a:spLocks noChangeShapeType="1"/>
            </p:cNvSpPr>
            <p:nvPr/>
          </p:nvSpPr>
          <p:spPr bwMode="auto">
            <a:xfrm>
              <a:off x="430" y="935"/>
              <a:ext cx="483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822" name="Line 38"/>
            <p:cNvSpPr>
              <a:spLocks noChangeShapeType="1"/>
            </p:cNvSpPr>
            <p:nvPr/>
          </p:nvSpPr>
          <p:spPr bwMode="auto">
            <a:xfrm>
              <a:off x="430" y="810"/>
              <a:ext cx="0" cy="1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831" name="Line 47"/>
            <p:cNvSpPr>
              <a:spLocks noChangeShapeType="1"/>
            </p:cNvSpPr>
            <p:nvPr/>
          </p:nvSpPr>
          <p:spPr bwMode="auto">
            <a:xfrm>
              <a:off x="1655" y="747"/>
              <a:ext cx="0" cy="1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502911" name="Group 127"/>
            <p:cNvGrpSpPr/>
            <p:nvPr/>
          </p:nvGrpSpPr>
          <p:grpSpPr bwMode="auto">
            <a:xfrm>
              <a:off x="581" y="845"/>
              <a:ext cx="906" cy="93"/>
              <a:chOff x="581" y="845"/>
              <a:chExt cx="906" cy="93"/>
            </a:xfrm>
          </p:grpSpPr>
          <p:sp>
            <p:nvSpPr>
              <p:cNvPr id="502823" name="Line 39"/>
              <p:cNvSpPr>
                <a:spLocks noChangeShapeType="1"/>
              </p:cNvSpPr>
              <p:nvPr/>
            </p:nvSpPr>
            <p:spPr bwMode="auto">
              <a:xfrm>
                <a:off x="581" y="845"/>
                <a:ext cx="0" cy="9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02824" name="Line 40"/>
              <p:cNvSpPr>
                <a:spLocks noChangeShapeType="1"/>
              </p:cNvSpPr>
              <p:nvPr/>
            </p:nvSpPr>
            <p:spPr bwMode="auto">
              <a:xfrm>
                <a:off x="732" y="845"/>
                <a:ext cx="0" cy="9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02825" name="Line 41"/>
              <p:cNvSpPr>
                <a:spLocks noChangeShapeType="1"/>
              </p:cNvSpPr>
              <p:nvPr/>
            </p:nvSpPr>
            <p:spPr bwMode="auto">
              <a:xfrm>
                <a:off x="883" y="845"/>
                <a:ext cx="0" cy="9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02826" name="Line 42"/>
              <p:cNvSpPr>
                <a:spLocks noChangeShapeType="1"/>
              </p:cNvSpPr>
              <p:nvPr/>
            </p:nvSpPr>
            <p:spPr bwMode="auto">
              <a:xfrm>
                <a:off x="1035" y="845"/>
                <a:ext cx="0" cy="9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02827" name="Line 43"/>
              <p:cNvSpPr>
                <a:spLocks noChangeShapeType="1"/>
              </p:cNvSpPr>
              <p:nvPr/>
            </p:nvSpPr>
            <p:spPr bwMode="auto">
              <a:xfrm>
                <a:off x="1186" y="845"/>
                <a:ext cx="0" cy="9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02828" name="Line 44"/>
              <p:cNvSpPr>
                <a:spLocks noChangeShapeType="1"/>
              </p:cNvSpPr>
              <p:nvPr/>
            </p:nvSpPr>
            <p:spPr bwMode="auto">
              <a:xfrm>
                <a:off x="1336" y="845"/>
                <a:ext cx="0" cy="9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02829" name="Line 45"/>
              <p:cNvSpPr>
                <a:spLocks noChangeShapeType="1"/>
              </p:cNvSpPr>
              <p:nvPr/>
            </p:nvSpPr>
            <p:spPr bwMode="auto">
              <a:xfrm>
                <a:off x="1487" y="845"/>
                <a:ext cx="0" cy="9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502839" name="Line 55"/>
            <p:cNvSpPr>
              <a:spLocks noChangeShapeType="1"/>
            </p:cNvSpPr>
            <p:nvPr/>
          </p:nvSpPr>
          <p:spPr bwMode="auto">
            <a:xfrm>
              <a:off x="2847" y="747"/>
              <a:ext cx="0" cy="1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847" name="Line 63"/>
            <p:cNvSpPr>
              <a:spLocks noChangeShapeType="1"/>
            </p:cNvSpPr>
            <p:nvPr/>
          </p:nvSpPr>
          <p:spPr bwMode="auto">
            <a:xfrm>
              <a:off x="4059" y="747"/>
              <a:ext cx="0" cy="1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854" name="Line 70"/>
            <p:cNvSpPr>
              <a:spLocks noChangeShapeType="1"/>
            </p:cNvSpPr>
            <p:nvPr/>
          </p:nvSpPr>
          <p:spPr bwMode="auto">
            <a:xfrm>
              <a:off x="5265" y="810"/>
              <a:ext cx="0" cy="1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867" name="Line 83"/>
            <p:cNvSpPr>
              <a:spLocks noChangeShapeType="1"/>
            </p:cNvSpPr>
            <p:nvPr/>
          </p:nvSpPr>
          <p:spPr bwMode="auto">
            <a:xfrm>
              <a:off x="5341" y="1019"/>
              <a:ext cx="32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868" name="Line 84"/>
            <p:cNvSpPr>
              <a:spLocks noChangeShapeType="1"/>
            </p:cNvSpPr>
            <p:nvPr/>
          </p:nvSpPr>
          <p:spPr bwMode="auto">
            <a:xfrm>
              <a:off x="5341" y="3158"/>
              <a:ext cx="32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873" name="Rectangle 89"/>
            <p:cNvSpPr>
              <a:spLocks noChangeArrowheads="1"/>
            </p:cNvSpPr>
            <p:nvPr/>
          </p:nvSpPr>
          <p:spPr bwMode="auto">
            <a:xfrm>
              <a:off x="509" y="1026"/>
              <a:ext cx="43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71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14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286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zh-CN" altLang="en-US" sz="20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版本</a:t>
              </a:r>
              <a:endParaRPr lang="zh-CN" altLang="en-US" sz="20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502796" name="Line 12"/>
            <p:cNvSpPr>
              <a:spLocks noChangeShapeType="1"/>
            </p:cNvSpPr>
            <p:nvPr/>
          </p:nvSpPr>
          <p:spPr bwMode="auto">
            <a:xfrm>
              <a:off x="427" y="1253"/>
              <a:ext cx="485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502883" name="Group 99"/>
            <p:cNvGrpSpPr/>
            <p:nvPr/>
          </p:nvGrpSpPr>
          <p:grpSpPr bwMode="auto">
            <a:xfrm>
              <a:off x="436" y="1026"/>
              <a:ext cx="4841" cy="454"/>
              <a:chOff x="436" y="1026"/>
              <a:chExt cx="4841" cy="590"/>
            </a:xfrm>
          </p:grpSpPr>
          <p:sp>
            <p:nvSpPr>
              <p:cNvPr id="502797" name="Line 13"/>
              <p:cNvSpPr>
                <a:spLocks noChangeShapeType="1"/>
              </p:cNvSpPr>
              <p:nvPr/>
            </p:nvSpPr>
            <p:spPr bwMode="auto">
              <a:xfrm>
                <a:off x="436" y="1616"/>
                <a:ext cx="4841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02871" name="Line 87"/>
              <p:cNvSpPr>
                <a:spLocks noChangeShapeType="1"/>
              </p:cNvSpPr>
              <p:nvPr/>
            </p:nvSpPr>
            <p:spPr bwMode="auto">
              <a:xfrm>
                <a:off x="1020" y="1026"/>
                <a:ext cx="0" cy="29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02872" name="Line 88"/>
              <p:cNvSpPr>
                <a:spLocks noChangeShapeType="1"/>
              </p:cNvSpPr>
              <p:nvPr/>
            </p:nvSpPr>
            <p:spPr bwMode="auto">
              <a:xfrm>
                <a:off x="2245" y="1026"/>
                <a:ext cx="0" cy="29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02874" name="Line 90"/>
              <p:cNvSpPr>
                <a:spLocks noChangeShapeType="1"/>
              </p:cNvSpPr>
              <p:nvPr/>
            </p:nvSpPr>
            <p:spPr bwMode="auto">
              <a:xfrm>
                <a:off x="2853" y="1321"/>
                <a:ext cx="0" cy="29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02875" name="Line 91"/>
              <p:cNvSpPr>
                <a:spLocks noChangeShapeType="1"/>
              </p:cNvSpPr>
              <p:nvPr/>
            </p:nvSpPr>
            <p:spPr bwMode="auto">
              <a:xfrm>
                <a:off x="4059" y="1321"/>
                <a:ext cx="0" cy="29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502876" name="Rectangle 92"/>
            <p:cNvSpPr>
              <a:spLocks noChangeArrowheads="1"/>
            </p:cNvSpPr>
            <p:nvPr/>
          </p:nvSpPr>
          <p:spPr bwMode="auto">
            <a:xfrm>
              <a:off x="957" y="1232"/>
              <a:ext cx="10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71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14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286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zh-CN" altLang="en-US" sz="2000" dirty="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有效载荷长度</a:t>
              </a:r>
              <a:endPara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502877" name="Rectangle 93"/>
            <p:cNvSpPr>
              <a:spLocks noChangeArrowheads="1"/>
            </p:cNvSpPr>
            <p:nvPr/>
          </p:nvSpPr>
          <p:spPr bwMode="auto">
            <a:xfrm>
              <a:off x="2987" y="1232"/>
              <a:ext cx="92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71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14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286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zh-CN" altLang="en-US" sz="2000" dirty="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下一个首部</a:t>
              </a:r>
              <a:endPara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502878" name="Rectangle 94"/>
            <p:cNvSpPr>
              <a:spLocks noChangeArrowheads="1"/>
            </p:cNvSpPr>
            <p:nvPr/>
          </p:nvSpPr>
          <p:spPr bwMode="auto">
            <a:xfrm>
              <a:off x="4248" y="1232"/>
              <a:ext cx="76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71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14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286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zh-CN" altLang="en-US" sz="2000" dirty="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跳数限制</a:t>
              </a:r>
              <a:endPara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502879" name="Rectangle 95"/>
            <p:cNvSpPr>
              <a:spLocks noChangeArrowheads="1"/>
            </p:cNvSpPr>
            <p:nvPr/>
          </p:nvSpPr>
          <p:spPr bwMode="auto">
            <a:xfrm>
              <a:off x="2538" y="1797"/>
              <a:ext cx="60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71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14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286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zh-CN" altLang="en-US" sz="20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源地址</a:t>
              </a:r>
              <a:endParaRPr lang="zh-CN" altLang="en-US" sz="20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502880" name="Rectangle 96"/>
            <p:cNvSpPr>
              <a:spLocks noChangeArrowheads="1"/>
            </p:cNvSpPr>
            <p:nvPr/>
          </p:nvSpPr>
          <p:spPr bwMode="auto">
            <a:xfrm>
              <a:off x="2457" y="2659"/>
              <a:ext cx="76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71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14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286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zh-CN" altLang="en-US" sz="20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目的地址</a:t>
              </a:r>
              <a:endParaRPr lang="zh-CN" altLang="en-US" sz="20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grpSp>
          <p:nvGrpSpPr>
            <p:cNvPr id="502886" name="Group 102"/>
            <p:cNvGrpSpPr/>
            <p:nvPr/>
          </p:nvGrpSpPr>
          <p:grpSpPr bwMode="auto">
            <a:xfrm>
              <a:off x="431" y="1661"/>
              <a:ext cx="136" cy="454"/>
              <a:chOff x="431" y="1661"/>
              <a:chExt cx="181" cy="454"/>
            </a:xfrm>
          </p:grpSpPr>
          <p:sp>
            <p:nvSpPr>
              <p:cNvPr id="502882" name="Line 98"/>
              <p:cNvSpPr>
                <a:spLocks noChangeShapeType="1"/>
              </p:cNvSpPr>
              <p:nvPr/>
            </p:nvSpPr>
            <p:spPr bwMode="auto">
              <a:xfrm>
                <a:off x="431" y="1661"/>
                <a:ext cx="181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02884" name="Line 100"/>
              <p:cNvSpPr>
                <a:spLocks noChangeShapeType="1"/>
              </p:cNvSpPr>
              <p:nvPr/>
            </p:nvSpPr>
            <p:spPr bwMode="auto">
              <a:xfrm>
                <a:off x="431" y="1888"/>
                <a:ext cx="181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02885" name="Line 101"/>
              <p:cNvSpPr>
                <a:spLocks noChangeShapeType="1"/>
              </p:cNvSpPr>
              <p:nvPr/>
            </p:nvSpPr>
            <p:spPr bwMode="auto">
              <a:xfrm>
                <a:off x="431" y="2115"/>
                <a:ext cx="181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502887" name="Group 103"/>
            <p:cNvGrpSpPr/>
            <p:nvPr/>
          </p:nvGrpSpPr>
          <p:grpSpPr bwMode="auto">
            <a:xfrm>
              <a:off x="431" y="2523"/>
              <a:ext cx="136" cy="454"/>
              <a:chOff x="431" y="1661"/>
              <a:chExt cx="181" cy="454"/>
            </a:xfrm>
          </p:grpSpPr>
          <p:sp>
            <p:nvSpPr>
              <p:cNvPr id="502888" name="Line 104"/>
              <p:cNvSpPr>
                <a:spLocks noChangeShapeType="1"/>
              </p:cNvSpPr>
              <p:nvPr/>
            </p:nvSpPr>
            <p:spPr bwMode="auto">
              <a:xfrm>
                <a:off x="431" y="1661"/>
                <a:ext cx="181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02889" name="Line 105"/>
              <p:cNvSpPr>
                <a:spLocks noChangeShapeType="1"/>
              </p:cNvSpPr>
              <p:nvPr/>
            </p:nvSpPr>
            <p:spPr bwMode="auto">
              <a:xfrm>
                <a:off x="431" y="1888"/>
                <a:ext cx="181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02890" name="Line 106"/>
              <p:cNvSpPr>
                <a:spLocks noChangeShapeType="1"/>
              </p:cNvSpPr>
              <p:nvPr/>
            </p:nvSpPr>
            <p:spPr bwMode="auto">
              <a:xfrm>
                <a:off x="431" y="2115"/>
                <a:ext cx="181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502891" name="Group 107"/>
            <p:cNvGrpSpPr/>
            <p:nvPr/>
          </p:nvGrpSpPr>
          <p:grpSpPr bwMode="auto">
            <a:xfrm>
              <a:off x="5142" y="1661"/>
              <a:ext cx="136" cy="454"/>
              <a:chOff x="431" y="1661"/>
              <a:chExt cx="181" cy="454"/>
            </a:xfrm>
          </p:grpSpPr>
          <p:sp>
            <p:nvSpPr>
              <p:cNvPr id="502892" name="Line 108"/>
              <p:cNvSpPr>
                <a:spLocks noChangeShapeType="1"/>
              </p:cNvSpPr>
              <p:nvPr/>
            </p:nvSpPr>
            <p:spPr bwMode="auto">
              <a:xfrm>
                <a:off x="431" y="1661"/>
                <a:ext cx="181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02893" name="Line 109"/>
              <p:cNvSpPr>
                <a:spLocks noChangeShapeType="1"/>
              </p:cNvSpPr>
              <p:nvPr/>
            </p:nvSpPr>
            <p:spPr bwMode="auto">
              <a:xfrm>
                <a:off x="431" y="1888"/>
                <a:ext cx="181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02894" name="Line 110"/>
              <p:cNvSpPr>
                <a:spLocks noChangeShapeType="1"/>
              </p:cNvSpPr>
              <p:nvPr/>
            </p:nvSpPr>
            <p:spPr bwMode="auto">
              <a:xfrm>
                <a:off x="431" y="2115"/>
                <a:ext cx="181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502895" name="Group 111"/>
            <p:cNvGrpSpPr/>
            <p:nvPr/>
          </p:nvGrpSpPr>
          <p:grpSpPr bwMode="auto">
            <a:xfrm>
              <a:off x="5142" y="2523"/>
              <a:ext cx="136" cy="454"/>
              <a:chOff x="431" y="1661"/>
              <a:chExt cx="181" cy="454"/>
            </a:xfrm>
          </p:grpSpPr>
          <p:sp>
            <p:nvSpPr>
              <p:cNvPr id="502896" name="Line 112"/>
              <p:cNvSpPr>
                <a:spLocks noChangeShapeType="1"/>
              </p:cNvSpPr>
              <p:nvPr/>
            </p:nvSpPr>
            <p:spPr bwMode="auto">
              <a:xfrm>
                <a:off x="431" y="1661"/>
                <a:ext cx="181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02897" name="Line 113"/>
              <p:cNvSpPr>
                <a:spLocks noChangeShapeType="1"/>
              </p:cNvSpPr>
              <p:nvPr/>
            </p:nvSpPr>
            <p:spPr bwMode="auto">
              <a:xfrm>
                <a:off x="431" y="1888"/>
                <a:ext cx="181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02898" name="Line 114"/>
              <p:cNvSpPr>
                <a:spLocks noChangeShapeType="1"/>
              </p:cNvSpPr>
              <p:nvPr/>
            </p:nvSpPr>
            <p:spPr bwMode="auto">
              <a:xfrm>
                <a:off x="431" y="2115"/>
                <a:ext cx="181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502912" name="Group 128"/>
            <p:cNvGrpSpPr/>
            <p:nvPr/>
          </p:nvGrpSpPr>
          <p:grpSpPr bwMode="auto">
            <a:xfrm>
              <a:off x="1791" y="845"/>
              <a:ext cx="906" cy="93"/>
              <a:chOff x="581" y="845"/>
              <a:chExt cx="906" cy="93"/>
            </a:xfrm>
          </p:grpSpPr>
          <p:sp>
            <p:nvSpPr>
              <p:cNvPr id="502913" name="Line 129"/>
              <p:cNvSpPr>
                <a:spLocks noChangeShapeType="1"/>
              </p:cNvSpPr>
              <p:nvPr/>
            </p:nvSpPr>
            <p:spPr bwMode="auto">
              <a:xfrm>
                <a:off x="581" y="845"/>
                <a:ext cx="0" cy="9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02914" name="Line 130"/>
              <p:cNvSpPr>
                <a:spLocks noChangeShapeType="1"/>
              </p:cNvSpPr>
              <p:nvPr/>
            </p:nvSpPr>
            <p:spPr bwMode="auto">
              <a:xfrm>
                <a:off x="732" y="845"/>
                <a:ext cx="0" cy="9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02915" name="Line 131"/>
              <p:cNvSpPr>
                <a:spLocks noChangeShapeType="1"/>
              </p:cNvSpPr>
              <p:nvPr/>
            </p:nvSpPr>
            <p:spPr bwMode="auto">
              <a:xfrm>
                <a:off x="883" y="845"/>
                <a:ext cx="0" cy="9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02916" name="Line 132"/>
              <p:cNvSpPr>
                <a:spLocks noChangeShapeType="1"/>
              </p:cNvSpPr>
              <p:nvPr/>
            </p:nvSpPr>
            <p:spPr bwMode="auto">
              <a:xfrm>
                <a:off x="1035" y="845"/>
                <a:ext cx="0" cy="9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02917" name="Line 133"/>
              <p:cNvSpPr>
                <a:spLocks noChangeShapeType="1"/>
              </p:cNvSpPr>
              <p:nvPr/>
            </p:nvSpPr>
            <p:spPr bwMode="auto">
              <a:xfrm>
                <a:off x="1186" y="845"/>
                <a:ext cx="0" cy="9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02918" name="Line 134"/>
              <p:cNvSpPr>
                <a:spLocks noChangeShapeType="1"/>
              </p:cNvSpPr>
              <p:nvPr/>
            </p:nvSpPr>
            <p:spPr bwMode="auto">
              <a:xfrm>
                <a:off x="1336" y="845"/>
                <a:ext cx="0" cy="9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02919" name="Line 135"/>
              <p:cNvSpPr>
                <a:spLocks noChangeShapeType="1"/>
              </p:cNvSpPr>
              <p:nvPr/>
            </p:nvSpPr>
            <p:spPr bwMode="auto">
              <a:xfrm>
                <a:off x="1487" y="845"/>
                <a:ext cx="0" cy="9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502920" name="Group 136"/>
            <p:cNvGrpSpPr/>
            <p:nvPr/>
          </p:nvGrpSpPr>
          <p:grpSpPr bwMode="auto">
            <a:xfrm>
              <a:off x="3016" y="845"/>
              <a:ext cx="906" cy="93"/>
              <a:chOff x="581" y="845"/>
              <a:chExt cx="906" cy="93"/>
            </a:xfrm>
          </p:grpSpPr>
          <p:sp>
            <p:nvSpPr>
              <p:cNvPr id="502921" name="Line 137"/>
              <p:cNvSpPr>
                <a:spLocks noChangeShapeType="1"/>
              </p:cNvSpPr>
              <p:nvPr/>
            </p:nvSpPr>
            <p:spPr bwMode="auto">
              <a:xfrm>
                <a:off x="581" y="845"/>
                <a:ext cx="0" cy="9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02922" name="Line 138"/>
              <p:cNvSpPr>
                <a:spLocks noChangeShapeType="1"/>
              </p:cNvSpPr>
              <p:nvPr/>
            </p:nvSpPr>
            <p:spPr bwMode="auto">
              <a:xfrm>
                <a:off x="732" y="845"/>
                <a:ext cx="0" cy="9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02923" name="Line 139"/>
              <p:cNvSpPr>
                <a:spLocks noChangeShapeType="1"/>
              </p:cNvSpPr>
              <p:nvPr/>
            </p:nvSpPr>
            <p:spPr bwMode="auto">
              <a:xfrm>
                <a:off x="883" y="845"/>
                <a:ext cx="0" cy="9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02924" name="Line 140"/>
              <p:cNvSpPr>
                <a:spLocks noChangeShapeType="1"/>
              </p:cNvSpPr>
              <p:nvPr/>
            </p:nvSpPr>
            <p:spPr bwMode="auto">
              <a:xfrm>
                <a:off x="1035" y="845"/>
                <a:ext cx="0" cy="9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02925" name="Line 141"/>
              <p:cNvSpPr>
                <a:spLocks noChangeShapeType="1"/>
              </p:cNvSpPr>
              <p:nvPr/>
            </p:nvSpPr>
            <p:spPr bwMode="auto">
              <a:xfrm>
                <a:off x="1186" y="845"/>
                <a:ext cx="0" cy="9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02926" name="Line 142"/>
              <p:cNvSpPr>
                <a:spLocks noChangeShapeType="1"/>
              </p:cNvSpPr>
              <p:nvPr/>
            </p:nvSpPr>
            <p:spPr bwMode="auto">
              <a:xfrm>
                <a:off x="1336" y="845"/>
                <a:ext cx="0" cy="9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02927" name="Line 143"/>
              <p:cNvSpPr>
                <a:spLocks noChangeShapeType="1"/>
              </p:cNvSpPr>
              <p:nvPr/>
            </p:nvSpPr>
            <p:spPr bwMode="auto">
              <a:xfrm>
                <a:off x="1487" y="845"/>
                <a:ext cx="0" cy="9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502928" name="Group 144"/>
            <p:cNvGrpSpPr/>
            <p:nvPr/>
          </p:nvGrpSpPr>
          <p:grpSpPr bwMode="auto">
            <a:xfrm>
              <a:off x="4210" y="845"/>
              <a:ext cx="906" cy="93"/>
              <a:chOff x="581" y="845"/>
              <a:chExt cx="906" cy="93"/>
            </a:xfrm>
          </p:grpSpPr>
          <p:sp>
            <p:nvSpPr>
              <p:cNvPr id="502929" name="Line 145"/>
              <p:cNvSpPr>
                <a:spLocks noChangeShapeType="1"/>
              </p:cNvSpPr>
              <p:nvPr/>
            </p:nvSpPr>
            <p:spPr bwMode="auto">
              <a:xfrm>
                <a:off x="581" y="845"/>
                <a:ext cx="0" cy="9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02930" name="Line 146"/>
              <p:cNvSpPr>
                <a:spLocks noChangeShapeType="1"/>
              </p:cNvSpPr>
              <p:nvPr/>
            </p:nvSpPr>
            <p:spPr bwMode="auto">
              <a:xfrm>
                <a:off x="732" y="845"/>
                <a:ext cx="0" cy="9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02931" name="Line 147"/>
              <p:cNvSpPr>
                <a:spLocks noChangeShapeType="1"/>
              </p:cNvSpPr>
              <p:nvPr/>
            </p:nvSpPr>
            <p:spPr bwMode="auto">
              <a:xfrm>
                <a:off x="883" y="845"/>
                <a:ext cx="0" cy="9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02932" name="Line 148"/>
              <p:cNvSpPr>
                <a:spLocks noChangeShapeType="1"/>
              </p:cNvSpPr>
              <p:nvPr/>
            </p:nvSpPr>
            <p:spPr bwMode="auto">
              <a:xfrm>
                <a:off x="1035" y="845"/>
                <a:ext cx="0" cy="9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02933" name="Line 149"/>
              <p:cNvSpPr>
                <a:spLocks noChangeShapeType="1"/>
              </p:cNvSpPr>
              <p:nvPr/>
            </p:nvSpPr>
            <p:spPr bwMode="auto">
              <a:xfrm>
                <a:off x="1186" y="845"/>
                <a:ext cx="0" cy="9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02934" name="Line 150"/>
              <p:cNvSpPr>
                <a:spLocks noChangeShapeType="1"/>
              </p:cNvSpPr>
              <p:nvPr/>
            </p:nvSpPr>
            <p:spPr bwMode="auto">
              <a:xfrm>
                <a:off x="1336" y="845"/>
                <a:ext cx="0" cy="9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02935" name="Line 151"/>
              <p:cNvSpPr>
                <a:spLocks noChangeShapeType="1"/>
              </p:cNvSpPr>
              <p:nvPr/>
            </p:nvSpPr>
            <p:spPr bwMode="auto">
              <a:xfrm>
                <a:off x="1487" y="845"/>
                <a:ext cx="0" cy="9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502937" name="Rectangle 153"/>
          <p:cNvSpPr>
            <a:spLocks noChangeArrowheads="1"/>
          </p:cNvSpPr>
          <p:nvPr/>
        </p:nvSpPr>
        <p:spPr bwMode="auto">
          <a:xfrm>
            <a:off x="2208213" y="5732463"/>
            <a:ext cx="1727200" cy="577850"/>
          </a:xfrm>
          <a:prstGeom prst="rect">
            <a:avLst/>
          </a:prstGeom>
          <a:solidFill>
            <a:srgbClr val="EAEAEA"/>
          </a:solidFill>
          <a:ln w="19050" algn="ctr">
            <a:solidFill>
              <a:srgbClr val="0066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 sz="2000"/>
              <a:t>基本头部</a:t>
            </a:r>
            <a:r>
              <a:rPr lang="en-US" altLang="zh-CN" sz="2000"/>
              <a:t>(40B)</a:t>
            </a:r>
            <a:endParaRPr lang="en-US" altLang="zh-CN" sz="2000"/>
          </a:p>
        </p:txBody>
      </p:sp>
      <p:sp>
        <p:nvSpPr>
          <p:cNvPr id="502939" name="Rectangle 155"/>
          <p:cNvSpPr>
            <a:spLocks noChangeArrowheads="1"/>
          </p:cNvSpPr>
          <p:nvPr/>
        </p:nvSpPr>
        <p:spPr bwMode="auto">
          <a:xfrm>
            <a:off x="3935414" y="5732463"/>
            <a:ext cx="936625" cy="577850"/>
          </a:xfrm>
          <a:prstGeom prst="rect">
            <a:avLst/>
          </a:prstGeom>
          <a:solidFill>
            <a:srgbClr val="EAEAEA"/>
          </a:solidFill>
          <a:ln w="19050" algn="ctr">
            <a:solidFill>
              <a:srgbClr val="0066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 sz="2000"/>
              <a:t>扩展</a:t>
            </a:r>
            <a:endParaRPr lang="zh-CN" altLang="en-US" sz="2000"/>
          </a:p>
          <a:p>
            <a:pPr algn="ctr"/>
            <a:r>
              <a:rPr lang="zh-CN" altLang="en-US" sz="2000"/>
              <a:t>头部</a:t>
            </a:r>
            <a:r>
              <a:rPr lang="en-US" altLang="zh-CN" sz="2000"/>
              <a:t>1</a:t>
            </a:r>
            <a:endParaRPr lang="en-US" altLang="zh-CN" sz="2000"/>
          </a:p>
        </p:txBody>
      </p:sp>
      <p:sp>
        <p:nvSpPr>
          <p:cNvPr id="502940" name="Rectangle 156"/>
          <p:cNvSpPr>
            <a:spLocks noChangeArrowheads="1"/>
          </p:cNvSpPr>
          <p:nvPr/>
        </p:nvSpPr>
        <p:spPr bwMode="auto">
          <a:xfrm>
            <a:off x="4872039" y="5732463"/>
            <a:ext cx="936625" cy="577850"/>
          </a:xfrm>
          <a:prstGeom prst="rect">
            <a:avLst/>
          </a:prstGeom>
          <a:solidFill>
            <a:srgbClr val="EAEAEA"/>
          </a:solidFill>
          <a:ln w="19050" algn="ctr">
            <a:solidFill>
              <a:srgbClr val="0066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000"/>
              <a:t>……</a:t>
            </a:r>
            <a:endParaRPr lang="en-US" altLang="zh-CN" sz="2000"/>
          </a:p>
        </p:txBody>
      </p:sp>
      <p:sp>
        <p:nvSpPr>
          <p:cNvPr id="502941" name="Rectangle 157"/>
          <p:cNvSpPr>
            <a:spLocks noChangeArrowheads="1"/>
          </p:cNvSpPr>
          <p:nvPr/>
        </p:nvSpPr>
        <p:spPr bwMode="auto">
          <a:xfrm>
            <a:off x="5808664" y="5732463"/>
            <a:ext cx="936625" cy="577850"/>
          </a:xfrm>
          <a:prstGeom prst="rect">
            <a:avLst/>
          </a:prstGeom>
          <a:solidFill>
            <a:srgbClr val="EAEAEA"/>
          </a:solidFill>
          <a:ln w="19050" algn="ctr">
            <a:solidFill>
              <a:srgbClr val="0066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 sz="2000" dirty="0"/>
              <a:t>扩展</a:t>
            </a:r>
            <a:endParaRPr lang="zh-CN" altLang="en-US" sz="2000" dirty="0"/>
          </a:p>
          <a:p>
            <a:pPr algn="ctr"/>
            <a:r>
              <a:rPr lang="zh-CN" altLang="en-US" sz="2000" dirty="0"/>
              <a:t>头部</a:t>
            </a:r>
            <a:r>
              <a:rPr lang="en-US" altLang="zh-CN" sz="2000" dirty="0"/>
              <a:t>n</a:t>
            </a:r>
            <a:endParaRPr lang="en-US" altLang="zh-CN" sz="2000" dirty="0"/>
          </a:p>
        </p:txBody>
      </p:sp>
      <p:sp>
        <p:nvSpPr>
          <p:cNvPr id="502942" name="Rectangle 158"/>
          <p:cNvSpPr>
            <a:spLocks noChangeArrowheads="1"/>
          </p:cNvSpPr>
          <p:nvPr/>
        </p:nvSpPr>
        <p:spPr bwMode="auto">
          <a:xfrm>
            <a:off x="6743700" y="5732463"/>
            <a:ext cx="3168650" cy="577850"/>
          </a:xfrm>
          <a:prstGeom prst="rect">
            <a:avLst/>
          </a:prstGeom>
          <a:solidFill>
            <a:srgbClr val="EAEAEA"/>
          </a:solidFill>
          <a:ln w="19050" algn="ctr">
            <a:solidFill>
              <a:srgbClr val="0066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 sz="2000" dirty="0"/>
              <a:t>数据</a:t>
            </a:r>
            <a:r>
              <a:rPr lang="en-US" altLang="zh-CN" sz="2000" dirty="0"/>
              <a:t>)</a:t>
            </a:r>
            <a:endParaRPr lang="en-US" altLang="zh-CN" sz="2000" dirty="0"/>
          </a:p>
        </p:txBody>
      </p:sp>
      <p:sp>
        <p:nvSpPr>
          <p:cNvPr id="502943" name="Line 159"/>
          <p:cNvSpPr>
            <a:spLocks noChangeShapeType="1"/>
          </p:cNvSpPr>
          <p:nvPr/>
        </p:nvSpPr>
        <p:spPr bwMode="auto">
          <a:xfrm>
            <a:off x="3935413" y="6121401"/>
            <a:ext cx="0" cy="736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502944" name="Line 160"/>
          <p:cNvSpPr>
            <a:spLocks noChangeShapeType="1"/>
          </p:cNvSpPr>
          <p:nvPr/>
        </p:nvSpPr>
        <p:spPr bwMode="auto">
          <a:xfrm>
            <a:off x="6743700" y="6310314"/>
            <a:ext cx="0" cy="3587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502945" name="Line 161"/>
          <p:cNvSpPr>
            <a:spLocks noChangeShapeType="1"/>
          </p:cNvSpPr>
          <p:nvPr/>
        </p:nvSpPr>
        <p:spPr bwMode="auto">
          <a:xfrm>
            <a:off x="3935414" y="6561138"/>
            <a:ext cx="280828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502946" name="Text Box 162"/>
          <p:cNvSpPr txBox="1">
            <a:spLocks noChangeArrowheads="1"/>
          </p:cNvSpPr>
          <p:nvPr/>
        </p:nvSpPr>
        <p:spPr bwMode="auto">
          <a:xfrm>
            <a:off x="4872038" y="6345239"/>
            <a:ext cx="946150" cy="3968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/>
              <a:t>可选域</a:t>
            </a:r>
            <a:endParaRPr lang="zh-CN" altLang="en-US" sz="2000"/>
          </a:p>
        </p:txBody>
      </p:sp>
      <p:sp>
        <p:nvSpPr>
          <p:cNvPr id="502947" name="Rectangle 163"/>
          <p:cNvSpPr>
            <a:spLocks noChangeArrowheads="1"/>
          </p:cNvSpPr>
          <p:nvPr/>
        </p:nvSpPr>
        <p:spPr bwMode="auto">
          <a:xfrm>
            <a:off x="1558926" y="6597650"/>
            <a:ext cx="2339975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r>
              <a:rPr lang="en-US" altLang="zh-CN" sz="1400">
                <a:solidFill>
                  <a:schemeClr val="bg2"/>
                </a:solidFill>
              </a:rPr>
              <a:t>IPv6</a:t>
            </a:r>
            <a:endParaRPr lang="en-US" altLang="zh-CN" sz="1400">
              <a:solidFill>
                <a:schemeClr val="bg2"/>
              </a:solidFill>
            </a:endParaRPr>
          </a:p>
        </p:txBody>
      </p:sp>
      <p:sp>
        <p:nvSpPr>
          <p:cNvPr id="502948" name="Freeform 164"/>
          <p:cNvSpPr/>
          <p:nvPr/>
        </p:nvSpPr>
        <p:spPr bwMode="auto">
          <a:xfrm>
            <a:off x="2208213" y="5032376"/>
            <a:ext cx="7632700" cy="682625"/>
          </a:xfrm>
          <a:custGeom>
            <a:avLst/>
            <a:gdLst>
              <a:gd name="T0" fmla="*/ 0 w 4808"/>
              <a:gd name="T1" fmla="*/ 1 h 430"/>
              <a:gd name="T2" fmla="*/ 4 w 4808"/>
              <a:gd name="T3" fmla="*/ 430 h 430"/>
              <a:gd name="T4" fmla="*/ 1085 w 4808"/>
              <a:gd name="T5" fmla="*/ 430 h 430"/>
              <a:gd name="T6" fmla="*/ 4808 w 4808"/>
              <a:gd name="T7" fmla="*/ 0 h 430"/>
              <a:gd name="T8" fmla="*/ 0 w 4808"/>
              <a:gd name="T9" fmla="*/ 1 h 4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08" h="430">
                <a:moveTo>
                  <a:pt x="0" y="1"/>
                </a:moveTo>
                <a:lnTo>
                  <a:pt x="4" y="430"/>
                </a:lnTo>
                <a:lnTo>
                  <a:pt x="1085" y="430"/>
                </a:lnTo>
                <a:lnTo>
                  <a:pt x="4808" y="0"/>
                </a:lnTo>
                <a:lnTo>
                  <a:pt x="0" y="1"/>
                </a:lnTo>
                <a:close/>
              </a:path>
            </a:pathLst>
          </a:custGeom>
          <a:gradFill rotWithShape="1">
            <a:gsLst>
              <a:gs pos="0">
                <a:srgbClr val="EAEAEA"/>
              </a:gs>
              <a:gs pos="100000">
                <a:srgbClr val="EAEAEA">
                  <a:gamma/>
                  <a:shade val="69804"/>
                  <a:invGamma/>
                </a:srgbClr>
              </a:gs>
            </a:gsLst>
            <a:lin ang="5400000" scaled="1"/>
          </a:gradFill>
          <a:ln w="12700" cap="flat" cmpd="sng">
            <a:solidFill>
              <a:srgbClr val="C0C0C0"/>
            </a:solidFill>
            <a:prstDash val="solid"/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4" name="Line 161"/>
          <p:cNvSpPr>
            <a:spLocks noChangeShapeType="1"/>
          </p:cNvSpPr>
          <p:nvPr/>
        </p:nvSpPr>
        <p:spPr bwMode="auto">
          <a:xfrm flipV="1">
            <a:off x="3935414" y="6727825"/>
            <a:ext cx="2923381" cy="22226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95" name="Line 160"/>
          <p:cNvSpPr>
            <a:spLocks noChangeShapeType="1"/>
          </p:cNvSpPr>
          <p:nvPr/>
        </p:nvSpPr>
        <p:spPr bwMode="auto">
          <a:xfrm>
            <a:off x="9894888" y="6310312"/>
            <a:ext cx="17462" cy="5476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96" name="Line 161"/>
          <p:cNvSpPr>
            <a:spLocks noChangeShapeType="1"/>
          </p:cNvSpPr>
          <p:nvPr/>
        </p:nvSpPr>
        <p:spPr bwMode="auto">
          <a:xfrm flipV="1">
            <a:off x="7862094" y="6727826"/>
            <a:ext cx="2045494" cy="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97" name="Rectangle 157"/>
          <p:cNvSpPr>
            <a:spLocks noChangeArrowheads="1"/>
          </p:cNvSpPr>
          <p:nvPr/>
        </p:nvSpPr>
        <p:spPr bwMode="auto">
          <a:xfrm>
            <a:off x="6870701" y="6434930"/>
            <a:ext cx="936625" cy="468313"/>
          </a:xfrm>
          <a:prstGeom prst="rect">
            <a:avLst/>
          </a:prstGeom>
          <a:noFill/>
          <a:ln w="19050" algn="ctr">
            <a:noFill/>
            <a:miter lim="800000"/>
          </a:ln>
          <a:effectLst/>
        </p:spPr>
        <p:txBody>
          <a:bodyPr wrap="none" anchor="ctr"/>
          <a:lstStyle/>
          <a:p>
            <a:pPr algn="ctr"/>
            <a:r>
              <a:rPr lang="zh-CN" altLang="en-US" sz="2000" dirty="0"/>
              <a:t>有效载荷</a:t>
            </a:r>
            <a:endParaRPr lang="en-US" altLang="zh-CN" sz="2000" dirty="0"/>
          </a:p>
        </p:txBody>
      </p:sp>
      <p:cxnSp>
        <p:nvCxnSpPr>
          <p:cNvPr id="98" name="直接连接符 37"/>
          <p:cNvCxnSpPr/>
          <p:nvPr/>
        </p:nvCxnSpPr>
        <p:spPr>
          <a:xfrm>
            <a:off x="1751013" y="836712"/>
            <a:ext cx="8820472" cy="0"/>
          </a:xfrm>
          <a:prstGeom prst="line">
            <a:avLst/>
          </a:prstGeom>
          <a:ln>
            <a:gradFill flip="none" rotWithShape="1">
              <a:gsLst>
                <a:gs pos="0">
                  <a:srgbClr val="FFF200"/>
                </a:gs>
                <a:gs pos="45000">
                  <a:srgbClr val="FF7A00"/>
                </a:gs>
                <a:gs pos="70000">
                  <a:srgbClr val="FF0300"/>
                </a:gs>
                <a:gs pos="100000">
                  <a:srgbClr val="4D0808"/>
                </a:gs>
              </a:gsLst>
              <a:lin ang="10800000" scaled="1"/>
              <a:tileRect/>
            </a:gra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A79B3-9079-4926-A62C-87CAE502C5EF}" type="slidenum">
              <a:rPr lang="en-US" altLang="zh-CN"/>
            </a:fld>
            <a:endParaRPr lang="en-US" altLang="zh-CN"/>
          </a:p>
        </p:txBody>
      </p:sp>
      <p:sp>
        <p:nvSpPr>
          <p:cNvPr id="503810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en-US" altLang="zh-CN" sz="4000" b="1" dirty="0">
                <a:solidFill>
                  <a:srgbClr val="C00000"/>
                </a:solidFill>
              </a:rPr>
              <a:t>IPv6</a:t>
            </a:r>
            <a:r>
              <a:rPr lang="zh-CN" altLang="en-US" sz="4000" b="1" dirty="0">
                <a:solidFill>
                  <a:srgbClr val="C00000"/>
                </a:solidFill>
              </a:rPr>
              <a:t>基本报头字段</a:t>
            </a:r>
            <a:endParaRPr lang="zh-CN" altLang="en-US" sz="4000" b="1" dirty="0">
              <a:solidFill>
                <a:srgbClr val="C00000"/>
              </a:solidFill>
            </a:endParaRPr>
          </a:p>
        </p:txBody>
      </p:sp>
      <p:sp>
        <p:nvSpPr>
          <p:cNvPr id="503812" name="Rectangle 4"/>
          <p:cNvSpPr>
            <a:spLocks noChangeArrowheads="1"/>
          </p:cNvSpPr>
          <p:nvPr/>
        </p:nvSpPr>
        <p:spPr bwMode="auto">
          <a:xfrm>
            <a:off x="1558926" y="6597650"/>
            <a:ext cx="2339975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r>
              <a:rPr lang="en-US" altLang="zh-CN" sz="1400">
                <a:solidFill>
                  <a:schemeClr val="bg2"/>
                </a:solidFill>
              </a:rPr>
              <a:t>IPv6</a:t>
            </a:r>
            <a:endParaRPr lang="en-US" altLang="zh-CN" sz="1400">
              <a:solidFill>
                <a:schemeClr val="bg2"/>
              </a:solidFill>
            </a:endParaRPr>
          </a:p>
        </p:txBody>
      </p:sp>
      <p:grpSp>
        <p:nvGrpSpPr>
          <p:cNvPr id="503813" name="Group 5"/>
          <p:cNvGrpSpPr/>
          <p:nvPr/>
        </p:nvGrpSpPr>
        <p:grpSpPr bwMode="auto">
          <a:xfrm>
            <a:off x="1812926" y="908051"/>
            <a:ext cx="8823325" cy="4105275"/>
            <a:chOff x="182" y="572"/>
            <a:chExt cx="5558" cy="2586"/>
          </a:xfrm>
        </p:grpSpPr>
        <p:sp>
          <p:nvSpPr>
            <p:cNvPr id="503814" name="Rectangle 6"/>
            <p:cNvSpPr>
              <a:spLocks noChangeArrowheads="1"/>
            </p:cNvSpPr>
            <p:nvPr/>
          </p:nvSpPr>
          <p:spPr bwMode="auto">
            <a:xfrm>
              <a:off x="182" y="572"/>
              <a:ext cx="52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71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14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286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zh-CN" altLang="en-US" sz="20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位 </a:t>
              </a:r>
              <a:r>
                <a:rPr lang="en-US" altLang="zh-CN" sz="20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0                          8                        16                        24                    31</a:t>
              </a:r>
              <a:endParaRPr lang="en-US" altLang="zh-CN" sz="20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503815" name="Line 7"/>
            <p:cNvSpPr>
              <a:spLocks noChangeShapeType="1"/>
            </p:cNvSpPr>
            <p:nvPr/>
          </p:nvSpPr>
          <p:spPr bwMode="auto">
            <a:xfrm flipH="1">
              <a:off x="5511" y="1026"/>
              <a:ext cx="0" cy="2132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3816" name="Rectangle 8"/>
            <p:cNvSpPr>
              <a:spLocks noChangeArrowheads="1"/>
            </p:cNvSpPr>
            <p:nvPr/>
          </p:nvSpPr>
          <p:spPr bwMode="auto">
            <a:xfrm>
              <a:off x="5302" y="1803"/>
              <a:ext cx="438" cy="4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71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14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286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lnSpc>
                  <a:spcPct val="90000"/>
                </a:lnSpc>
              </a:pPr>
              <a:r>
                <a:rPr lang="en-US" altLang="zh-CN" sz="20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40</a:t>
              </a:r>
              <a:endParaRPr lang="en-US" altLang="zh-CN" sz="20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  <a:p>
              <a:pPr algn="ctr" eaLnBrk="0" hangingPunct="0">
                <a:lnSpc>
                  <a:spcPct val="90000"/>
                </a:lnSpc>
              </a:pPr>
              <a:r>
                <a:rPr lang="zh-CN" altLang="en-US" sz="20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字节</a:t>
              </a:r>
              <a:endParaRPr lang="zh-CN" altLang="en-US" sz="20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503817" name="Rectangle 9"/>
            <p:cNvSpPr>
              <a:spLocks noChangeArrowheads="1"/>
            </p:cNvSpPr>
            <p:nvPr/>
          </p:nvSpPr>
          <p:spPr bwMode="auto">
            <a:xfrm>
              <a:off x="432" y="1034"/>
              <a:ext cx="4842" cy="2124"/>
            </a:xfrm>
            <a:prstGeom prst="rect">
              <a:avLst/>
            </a:prstGeom>
            <a:solidFill>
              <a:srgbClr val="EAEAEA"/>
            </a:solidFill>
            <a:ln w="2540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/>
            </a:p>
          </p:txBody>
        </p:sp>
        <p:sp>
          <p:nvSpPr>
            <p:cNvPr id="503818" name="Line 10"/>
            <p:cNvSpPr>
              <a:spLocks noChangeShapeType="1"/>
            </p:cNvSpPr>
            <p:nvPr/>
          </p:nvSpPr>
          <p:spPr bwMode="auto">
            <a:xfrm>
              <a:off x="431" y="2341"/>
              <a:ext cx="485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3819" name="Rectangle 11"/>
            <p:cNvSpPr>
              <a:spLocks noChangeArrowheads="1"/>
            </p:cNvSpPr>
            <p:nvPr/>
          </p:nvSpPr>
          <p:spPr bwMode="auto">
            <a:xfrm>
              <a:off x="3361" y="1026"/>
              <a:ext cx="60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71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14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286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zh-CN" altLang="en-US" sz="20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流标记</a:t>
              </a:r>
              <a:endParaRPr lang="zh-CN" altLang="en-US" sz="20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503820" name="Rectangle 12"/>
            <p:cNvSpPr>
              <a:spLocks noChangeArrowheads="1"/>
            </p:cNvSpPr>
            <p:nvPr/>
          </p:nvSpPr>
          <p:spPr bwMode="auto">
            <a:xfrm>
              <a:off x="1277" y="1026"/>
              <a:ext cx="76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71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14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286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2000" dirty="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通信类型</a:t>
              </a:r>
              <a:endPara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503821" name="Line 13"/>
            <p:cNvSpPr>
              <a:spLocks noChangeShapeType="1"/>
            </p:cNvSpPr>
            <p:nvPr/>
          </p:nvSpPr>
          <p:spPr bwMode="auto">
            <a:xfrm>
              <a:off x="430" y="935"/>
              <a:ext cx="483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3822" name="Line 14"/>
            <p:cNvSpPr>
              <a:spLocks noChangeShapeType="1"/>
            </p:cNvSpPr>
            <p:nvPr/>
          </p:nvSpPr>
          <p:spPr bwMode="auto">
            <a:xfrm>
              <a:off x="430" y="810"/>
              <a:ext cx="0" cy="1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3823" name="Line 15"/>
            <p:cNvSpPr>
              <a:spLocks noChangeShapeType="1"/>
            </p:cNvSpPr>
            <p:nvPr/>
          </p:nvSpPr>
          <p:spPr bwMode="auto">
            <a:xfrm>
              <a:off x="1655" y="747"/>
              <a:ext cx="0" cy="1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503824" name="Group 16"/>
            <p:cNvGrpSpPr/>
            <p:nvPr/>
          </p:nvGrpSpPr>
          <p:grpSpPr bwMode="auto">
            <a:xfrm>
              <a:off x="581" y="845"/>
              <a:ext cx="906" cy="93"/>
              <a:chOff x="581" y="845"/>
              <a:chExt cx="906" cy="93"/>
            </a:xfrm>
          </p:grpSpPr>
          <p:sp>
            <p:nvSpPr>
              <p:cNvPr id="503825" name="Line 17"/>
              <p:cNvSpPr>
                <a:spLocks noChangeShapeType="1"/>
              </p:cNvSpPr>
              <p:nvPr/>
            </p:nvSpPr>
            <p:spPr bwMode="auto">
              <a:xfrm>
                <a:off x="581" y="845"/>
                <a:ext cx="0" cy="9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03826" name="Line 18"/>
              <p:cNvSpPr>
                <a:spLocks noChangeShapeType="1"/>
              </p:cNvSpPr>
              <p:nvPr/>
            </p:nvSpPr>
            <p:spPr bwMode="auto">
              <a:xfrm>
                <a:off x="732" y="845"/>
                <a:ext cx="0" cy="9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03827" name="Line 19"/>
              <p:cNvSpPr>
                <a:spLocks noChangeShapeType="1"/>
              </p:cNvSpPr>
              <p:nvPr/>
            </p:nvSpPr>
            <p:spPr bwMode="auto">
              <a:xfrm>
                <a:off x="883" y="845"/>
                <a:ext cx="0" cy="9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03828" name="Line 20"/>
              <p:cNvSpPr>
                <a:spLocks noChangeShapeType="1"/>
              </p:cNvSpPr>
              <p:nvPr/>
            </p:nvSpPr>
            <p:spPr bwMode="auto">
              <a:xfrm>
                <a:off x="1035" y="845"/>
                <a:ext cx="0" cy="9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03829" name="Line 21"/>
              <p:cNvSpPr>
                <a:spLocks noChangeShapeType="1"/>
              </p:cNvSpPr>
              <p:nvPr/>
            </p:nvSpPr>
            <p:spPr bwMode="auto">
              <a:xfrm>
                <a:off x="1186" y="845"/>
                <a:ext cx="0" cy="9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03830" name="Line 22"/>
              <p:cNvSpPr>
                <a:spLocks noChangeShapeType="1"/>
              </p:cNvSpPr>
              <p:nvPr/>
            </p:nvSpPr>
            <p:spPr bwMode="auto">
              <a:xfrm>
                <a:off x="1336" y="845"/>
                <a:ext cx="0" cy="9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03831" name="Line 23"/>
              <p:cNvSpPr>
                <a:spLocks noChangeShapeType="1"/>
              </p:cNvSpPr>
              <p:nvPr/>
            </p:nvSpPr>
            <p:spPr bwMode="auto">
              <a:xfrm>
                <a:off x="1487" y="845"/>
                <a:ext cx="0" cy="9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503832" name="Line 24"/>
            <p:cNvSpPr>
              <a:spLocks noChangeShapeType="1"/>
            </p:cNvSpPr>
            <p:nvPr/>
          </p:nvSpPr>
          <p:spPr bwMode="auto">
            <a:xfrm>
              <a:off x="2847" y="747"/>
              <a:ext cx="0" cy="1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3833" name="Line 25"/>
            <p:cNvSpPr>
              <a:spLocks noChangeShapeType="1"/>
            </p:cNvSpPr>
            <p:nvPr/>
          </p:nvSpPr>
          <p:spPr bwMode="auto">
            <a:xfrm>
              <a:off x="4059" y="747"/>
              <a:ext cx="0" cy="1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3834" name="Line 26"/>
            <p:cNvSpPr>
              <a:spLocks noChangeShapeType="1"/>
            </p:cNvSpPr>
            <p:nvPr/>
          </p:nvSpPr>
          <p:spPr bwMode="auto">
            <a:xfrm>
              <a:off x="5265" y="810"/>
              <a:ext cx="0" cy="1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3835" name="Line 27"/>
            <p:cNvSpPr>
              <a:spLocks noChangeShapeType="1"/>
            </p:cNvSpPr>
            <p:nvPr/>
          </p:nvSpPr>
          <p:spPr bwMode="auto">
            <a:xfrm>
              <a:off x="5341" y="1019"/>
              <a:ext cx="32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3836" name="Line 28"/>
            <p:cNvSpPr>
              <a:spLocks noChangeShapeType="1"/>
            </p:cNvSpPr>
            <p:nvPr/>
          </p:nvSpPr>
          <p:spPr bwMode="auto">
            <a:xfrm>
              <a:off x="5341" y="3158"/>
              <a:ext cx="32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3837" name="Rectangle 29"/>
            <p:cNvSpPr>
              <a:spLocks noChangeArrowheads="1"/>
            </p:cNvSpPr>
            <p:nvPr/>
          </p:nvSpPr>
          <p:spPr bwMode="auto">
            <a:xfrm>
              <a:off x="509" y="1026"/>
              <a:ext cx="43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71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14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286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zh-CN" altLang="en-US" sz="20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版本</a:t>
              </a:r>
              <a:endParaRPr lang="zh-CN" altLang="en-US" sz="20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503838" name="Line 30"/>
            <p:cNvSpPr>
              <a:spLocks noChangeShapeType="1"/>
            </p:cNvSpPr>
            <p:nvPr/>
          </p:nvSpPr>
          <p:spPr bwMode="auto">
            <a:xfrm>
              <a:off x="427" y="1253"/>
              <a:ext cx="485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503839" name="Group 31"/>
            <p:cNvGrpSpPr/>
            <p:nvPr/>
          </p:nvGrpSpPr>
          <p:grpSpPr bwMode="auto">
            <a:xfrm>
              <a:off x="436" y="1026"/>
              <a:ext cx="4841" cy="454"/>
              <a:chOff x="436" y="1026"/>
              <a:chExt cx="4841" cy="590"/>
            </a:xfrm>
          </p:grpSpPr>
          <p:sp>
            <p:nvSpPr>
              <p:cNvPr id="503840" name="Line 32"/>
              <p:cNvSpPr>
                <a:spLocks noChangeShapeType="1"/>
              </p:cNvSpPr>
              <p:nvPr/>
            </p:nvSpPr>
            <p:spPr bwMode="auto">
              <a:xfrm>
                <a:off x="436" y="1616"/>
                <a:ext cx="4841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03841" name="Line 33"/>
              <p:cNvSpPr>
                <a:spLocks noChangeShapeType="1"/>
              </p:cNvSpPr>
              <p:nvPr/>
            </p:nvSpPr>
            <p:spPr bwMode="auto">
              <a:xfrm>
                <a:off x="1020" y="1026"/>
                <a:ext cx="0" cy="29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03842" name="Line 34"/>
              <p:cNvSpPr>
                <a:spLocks noChangeShapeType="1"/>
              </p:cNvSpPr>
              <p:nvPr/>
            </p:nvSpPr>
            <p:spPr bwMode="auto">
              <a:xfrm>
                <a:off x="2245" y="1026"/>
                <a:ext cx="0" cy="29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03843" name="Line 35"/>
              <p:cNvSpPr>
                <a:spLocks noChangeShapeType="1"/>
              </p:cNvSpPr>
              <p:nvPr/>
            </p:nvSpPr>
            <p:spPr bwMode="auto">
              <a:xfrm>
                <a:off x="2853" y="1321"/>
                <a:ext cx="0" cy="29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03844" name="Line 36"/>
              <p:cNvSpPr>
                <a:spLocks noChangeShapeType="1"/>
              </p:cNvSpPr>
              <p:nvPr/>
            </p:nvSpPr>
            <p:spPr bwMode="auto">
              <a:xfrm>
                <a:off x="4059" y="1321"/>
                <a:ext cx="0" cy="29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503845" name="Rectangle 37"/>
            <p:cNvSpPr>
              <a:spLocks noChangeArrowheads="1"/>
            </p:cNvSpPr>
            <p:nvPr/>
          </p:nvSpPr>
          <p:spPr bwMode="auto">
            <a:xfrm>
              <a:off x="1118" y="1232"/>
              <a:ext cx="76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71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14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286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zh-CN" altLang="en-US" sz="20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载荷长度</a:t>
              </a:r>
              <a:endParaRPr lang="zh-CN" altLang="en-US" sz="20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503846" name="Rectangle 38"/>
            <p:cNvSpPr>
              <a:spLocks noChangeArrowheads="1"/>
            </p:cNvSpPr>
            <p:nvPr/>
          </p:nvSpPr>
          <p:spPr bwMode="auto">
            <a:xfrm>
              <a:off x="2987" y="1232"/>
              <a:ext cx="92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71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14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286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zh-CN" altLang="en-US" sz="2000" dirty="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下一个首部</a:t>
              </a:r>
              <a:endPara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503847" name="Rectangle 39"/>
            <p:cNvSpPr>
              <a:spLocks noChangeArrowheads="1"/>
            </p:cNvSpPr>
            <p:nvPr/>
          </p:nvSpPr>
          <p:spPr bwMode="auto">
            <a:xfrm>
              <a:off x="4248" y="1232"/>
              <a:ext cx="76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71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14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286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2000" dirty="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跳数限制</a:t>
              </a:r>
              <a:endPara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503848" name="Rectangle 40"/>
            <p:cNvSpPr>
              <a:spLocks noChangeArrowheads="1"/>
            </p:cNvSpPr>
            <p:nvPr/>
          </p:nvSpPr>
          <p:spPr bwMode="auto">
            <a:xfrm>
              <a:off x="2538" y="1797"/>
              <a:ext cx="60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71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14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286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zh-CN" altLang="en-US" sz="20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源地址</a:t>
              </a:r>
              <a:endParaRPr lang="zh-CN" altLang="en-US" sz="20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503849" name="Rectangle 41"/>
            <p:cNvSpPr>
              <a:spLocks noChangeArrowheads="1"/>
            </p:cNvSpPr>
            <p:nvPr/>
          </p:nvSpPr>
          <p:spPr bwMode="auto">
            <a:xfrm>
              <a:off x="2457" y="2659"/>
              <a:ext cx="76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71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14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286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zh-CN" altLang="en-US" sz="20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目的地址</a:t>
              </a:r>
              <a:endParaRPr lang="zh-CN" altLang="en-US" sz="20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grpSp>
          <p:nvGrpSpPr>
            <p:cNvPr id="503850" name="Group 42"/>
            <p:cNvGrpSpPr/>
            <p:nvPr/>
          </p:nvGrpSpPr>
          <p:grpSpPr bwMode="auto">
            <a:xfrm>
              <a:off x="431" y="1661"/>
              <a:ext cx="136" cy="454"/>
              <a:chOff x="431" y="1661"/>
              <a:chExt cx="181" cy="454"/>
            </a:xfrm>
          </p:grpSpPr>
          <p:sp>
            <p:nvSpPr>
              <p:cNvPr id="503851" name="Line 43"/>
              <p:cNvSpPr>
                <a:spLocks noChangeShapeType="1"/>
              </p:cNvSpPr>
              <p:nvPr/>
            </p:nvSpPr>
            <p:spPr bwMode="auto">
              <a:xfrm>
                <a:off x="431" y="1661"/>
                <a:ext cx="181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03852" name="Line 44"/>
              <p:cNvSpPr>
                <a:spLocks noChangeShapeType="1"/>
              </p:cNvSpPr>
              <p:nvPr/>
            </p:nvSpPr>
            <p:spPr bwMode="auto">
              <a:xfrm>
                <a:off x="431" y="1888"/>
                <a:ext cx="181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03853" name="Line 45"/>
              <p:cNvSpPr>
                <a:spLocks noChangeShapeType="1"/>
              </p:cNvSpPr>
              <p:nvPr/>
            </p:nvSpPr>
            <p:spPr bwMode="auto">
              <a:xfrm>
                <a:off x="431" y="2115"/>
                <a:ext cx="181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503854" name="Group 46"/>
            <p:cNvGrpSpPr/>
            <p:nvPr/>
          </p:nvGrpSpPr>
          <p:grpSpPr bwMode="auto">
            <a:xfrm>
              <a:off x="431" y="2523"/>
              <a:ext cx="136" cy="454"/>
              <a:chOff x="431" y="1661"/>
              <a:chExt cx="181" cy="454"/>
            </a:xfrm>
          </p:grpSpPr>
          <p:sp>
            <p:nvSpPr>
              <p:cNvPr id="503855" name="Line 47"/>
              <p:cNvSpPr>
                <a:spLocks noChangeShapeType="1"/>
              </p:cNvSpPr>
              <p:nvPr/>
            </p:nvSpPr>
            <p:spPr bwMode="auto">
              <a:xfrm>
                <a:off x="431" y="1661"/>
                <a:ext cx="181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03856" name="Line 48"/>
              <p:cNvSpPr>
                <a:spLocks noChangeShapeType="1"/>
              </p:cNvSpPr>
              <p:nvPr/>
            </p:nvSpPr>
            <p:spPr bwMode="auto">
              <a:xfrm>
                <a:off x="431" y="1888"/>
                <a:ext cx="181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03857" name="Line 49"/>
              <p:cNvSpPr>
                <a:spLocks noChangeShapeType="1"/>
              </p:cNvSpPr>
              <p:nvPr/>
            </p:nvSpPr>
            <p:spPr bwMode="auto">
              <a:xfrm>
                <a:off x="431" y="2115"/>
                <a:ext cx="181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503858" name="Group 50"/>
            <p:cNvGrpSpPr/>
            <p:nvPr/>
          </p:nvGrpSpPr>
          <p:grpSpPr bwMode="auto">
            <a:xfrm>
              <a:off x="5142" y="1661"/>
              <a:ext cx="136" cy="454"/>
              <a:chOff x="431" y="1661"/>
              <a:chExt cx="181" cy="454"/>
            </a:xfrm>
          </p:grpSpPr>
          <p:sp>
            <p:nvSpPr>
              <p:cNvPr id="503859" name="Line 51"/>
              <p:cNvSpPr>
                <a:spLocks noChangeShapeType="1"/>
              </p:cNvSpPr>
              <p:nvPr/>
            </p:nvSpPr>
            <p:spPr bwMode="auto">
              <a:xfrm>
                <a:off x="431" y="1661"/>
                <a:ext cx="181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03860" name="Line 52"/>
              <p:cNvSpPr>
                <a:spLocks noChangeShapeType="1"/>
              </p:cNvSpPr>
              <p:nvPr/>
            </p:nvSpPr>
            <p:spPr bwMode="auto">
              <a:xfrm>
                <a:off x="431" y="1888"/>
                <a:ext cx="181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03861" name="Line 53"/>
              <p:cNvSpPr>
                <a:spLocks noChangeShapeType="1"/>
              </p:cNvSpPr>
              <p:nvPr/>
            </p:nvSpPr>
            <p:spPr bwMode="auto">
              <a:xfrm>
                <a:off x="431" y="2115"/>
                <a:ext cx="181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503862" name="Group 54"/>
            <p:cNvGrpSpPr/>
            <p:nvPr/>
          </p:nvGrpSpPr>
          <p:grpSpPr bwMode="auto">
            <a:xfrm>
              <a:off x="5142" y="2523"/>
              <a:ext cx="136" cy="454"/>
              <a:chOff x="431" y="1661"/>
              <a:chExt cx="181" cy="454"/>
            </a:xfrm>
          </p:grpSpPr>
          <p:sp>
            <p:nvSpPr>
              <p:cNvPr id="503863" name="Line 55"/>
              <p:cNvSpPr>
                <a:spLocks noChangeShapeType="1"/>
              </p:cNvSpPr>
              <p:nvPr/>
            </p:nvSpPr>
            <p:spPr bwMode="auto">
              <a:xfrm>
                <a:off x="431" y="1661"/>
                <a:ext cx="181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03864" name="Line 56"/>
              <p:cNvSpPr>
                <a:spLocks noChangeShapeType="1"/>
              </p:cNvSpPr>
              <p:nvPr/>
            </p:nvSpPr>
            <p:spPr bwMode="auto">
              <a:xfrm>
                <a:off x="431" y="1888"/>
                <a:ext cx="181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03865" name="Line 57"/>
              <p:cNvSpPr>
                <a:spLocks noChangeShapeType="1"/>
              </p:cNvSpPr>
              <p:nvPr/>
            </p:nvSpPr>
            <p:spPr bwMode="auto">
              <a:xfrm>
                <a:off x="431" y="2115"/>
                <a:ext cx="181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503866" name="Group 58"/>
            <p:cNvGrpSpPr/>
            <p:nvPr/>
          </p:nvGrpSpPr>
          <p:grpSpPr bwMode="auto">
            <a:xfrm>
              <a:off x="1791" y="845"/>
              <a:ext cx="906" cy="93"/>
              <a:chOff x="581" y="845"/>
              <a:chExt cx="906" cy="93"/>
            </a:xfrm>
          </p:grpSpPr>
          <p:sp>
            <p:nvSpPr>
              <p:cNvPr id="503867" name="Line 59"/>
              <p:cNvSpPr>
                <a:spLocks noChangeShapeType="1"/>
              </p:cNvSpPr>
              <p:nvPr/>
            </p:nvSpPr>
            <p:spPr bwMode="auto">
              <a:xfrm>
                <a:off x="581" y="845"/>
                <a:ext cx="0" cy="9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03868" name="Line 60"/>
              <p:cNvSpPr>
                <a:spLocks noChangeShapeType="1"/>
              </p:cNvSpPr>
              <p:nvPr/>
            </p:nvSpPr>
            <p:spPr bwMode="auto">
              <a:xfrm>
                <a:off x="732" y="845"/>
                <a:ext cx="0" cy="9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03869" name="Line 61"/>
              <p:cNvSpPr>
                <a:spLocks noChangeShapeType="1"/>
              </p:cNvSpPr>
              <p:nvPr/>
            </p:nvSpPr>
            <p:spPr bwMode="auto">
              <a:xfrm>
                <a:off x="883" y="845"/>
                <a:ext cx="0" cy="9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03870" name="Line 62"/>
              <p:cNvSpPr>
                <a:spLocks noChangeShapeType="1"/>
              </p:cNvSpPr>
              <p:nvPr/>
            </p:nvSpPr>
            <p:spPr bwMode="auto">
              <a:xfrm>
                <a:off x="1035" y="845"/>
                <a:ext cx="0" cy="9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03871" name="Line 63"/>
              <p:cNvSpPr>
                <a:spLocks noChangeShapeType="1"/>
              </p:cNvSpPr>
              <p:nvPr/>
            </p:nvSpPr>
            <p:spPr bwMode="auto">
              <a:xfrm>
                <a:off x="1186" y="845"/>
                <a:ext cx="0" cy="9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03872" name="Line 64"/>
              <p:cNvSpPr>
                <a:spLocks noChangeShapeType="1"/>
              </p:cNvSpPr>
              <p:nvPr/>
            </p:nvSpPr>
            <p:spPr bwMode="auto">
              <a:xfrm>
                <a:off x="1336" y="845"/>
                <a:ext cx="0" cy="9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03873" name="Line 65"/>
              <p:cNvSpPr>
                <a:spLocks noChangeShapeType="1"/>
              </p:cNvSpPr>
              <p:nvPr/>
            </p:nvSpPr>
            <p:spPr bwMode="auto">
              <a:xfrm>
                <a:off x="1487" y="845"/>
                <a:ext cx="0" cy="9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503874" name="Group 66"/>
            <p:cNvGrpSpPr/>
            <p:nvPr/>
          </p:nvGrpSpPr>
          <p:grpSpPr bwMode="auto">
            <a:xfrm>
              <a:off x="3016" y="845"/>
              <a:ext cx="906" cy="93"/>
              <a:chOff x="581" y="845"/>
              <a:chExt cx="906" cy="93"/>
            </a:xfrm>
          </p:grpSpPr>
          <p:sp>
            <p:nvSpPr>
              <p:cNvPr id="503875" name="Line 67"/>
              <p:cNvSpPr>
                <a:spLocks noChangeShapeType="1"/>
              </p:cNvSpPr>
              <p:nvPr/>
            </p:nvSpPr>
            <p:spPr bwMode="auto">
              <a:xfrm>
                <a:off x="581" y="845"/>
                <a:ext cx="0" cy="9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03876" name="Line 68"/>
              <p:cNvSpPr>
                <a:spLocks noChangeShapeType="1"/>
              </p:cNvSpPr>
              <p:nvPr/>
            </p:nvSpPr>
            <p:spPr bwMode="auto">
              <a:xfrm>
                <a:off x="732" y="845"/>
                <a:ext cx="0" cy="9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03877" name="Line 69"/>
              <p:cNvSpPr>
                <a:spLocks noChangeShapeType="1"/>
              </p:cNvSpPr>
              <p:nvPr/>
            </p:nvSpPr>
            <p:spPr bwMode="auto">
              <a:xfrm>
                <a:off x="883" y="845"/>
                <a:ext cx="0" cy="9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03878" name="Line 70"/>
              <p:cNvSpPr>
                <a:spLocks noChangeShapeType="1"/>
              </p:cNvSpPr>
              <p:nvPr/>
            </p:nvSpPr>
            <p:spPr bwMode="auto">
              <a:xfrm>
                <a:off x="1035" y="845"/>
                <a:ext cx="0" cy="9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03879" name="Line 71"/>
              <p:cNvSpPr>
                <a:spLocks noChangeShapeType="1"/>
              </p:cNvSpPr>
              <p:nvPr/>
            </p:nvSpPr>
            <p:spPr bwMode="auto">
              <a:xfrm>
                <a:off x="1186" y="845"/>
                <a:ext cx="0" cy="9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03880" name="Line 72"/>
              <p:cNvSpPr>
                <a:spLocks noChangeShapeType="1"/>
              </p:cNvSpPr>
              <p:nvPr/>
            </p:nvSpPr>
            <p:spPr bwMode="auto">
              <a:xfrm>
                <a:off x="1336" y="845"/>
                <a:ext cx="0" cy="9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03881" name="Line 73"/>
              <p:cNvSpPr>
                <a:spLocks noChangeShapeType="1"/>
              </p:cNvSpPr>
              <p:nvPr/>
            </p:nvSpPr>
            <p:spPr bwMode="auto">
              <a:xfrm>
                <a:off x="1487" y="845"/>
                <a:ext cx="0" cy="9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503882" name="Group 74"/>
            <p:cNvGrpSpPr/>
            <p:nvPr/>
          </p:nvGrpSpPr>
          <p:grpSpPr bwMode="auto">
            <a:xfrm>
              <a:off x="4210" y="845"/>
              <a:ext cx="906" cy="93"/>
              <a:chOff x="581" y="845"/>
              <a:chExt cx="906" cy="93"/>
            </a:xfrm>
          </p:grpSpPr>
          <p:sp>
            <p:nvSpPr>
              <p:cNvPr id="503883" name="Line 75"/>
              <p:cNvSpPr>
                <a:spLocks noChangeShapeType="1"/>
              </p:cNvSpPr>
              <p:nvPr/>
            </p:nvSpPr>
            <p:spPr bwMode="auto">
              <a:xfrm>
                <a:off x="581" y="845"/>
                <a:ext cx="0" cy="9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03884" name="Line 76"/>
              <p:cNvSpPr>
                <a:spLocks noChangeShapeType="1"/>
              </p:cNvSpPr>
              <p:nvPr/>
            </p:nvSpPr>
            <p:spPr bwMode="auto">
              <a:xfrm>
                <a:off x="732" y="845"/>
                <a:ext cx="0" cy="9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03885" name="Line 77"/>
              <p:cNvSpPr>
                <a:spLocks noChangeShapeType="1"/>
              </p:cNvSpPr>
              <p:nvPr/>
            </p:nvSpPr>
            <p:spPr bwMode="auto">
              <a:xfrm>
                <a:off x="883" y="845"/>
                <a:ext cx="0" cy="9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03886" name="Line 78"/>
              <p:cNvSpPr>
                <a:spLocks noChangeShapeType="1"/>
              </p:cNvSpPr>
              <p:nvPr/>
            </p:nvSpPr>
            <p:spPr bwMode="auto">
              <a:xfrm>
                <a:off x="1035" y="845"/>
                <a:ext cx="0" cy="9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03887" name="Line 79"/>
              <p:cNvSpPr>
                <a:spLocks noChangeShapeType="1"/>
              </p:cNvSpPr>
              <p:nvPr/>
            </p:nvSpPr>
            <p:spPr bwMode="auto">
              <a:xfrm>
                <a:off x="1186" y="845"/>
                <a:ext cx="0" cy="9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03888" name="Line 80"/>
              <p:cNvSpPr>
                <a:spLocks noChangeShapeType="1"/>
              </p:cNvSpPr>
              <p:nvPr/>
            </p:nvSpPr>
            <p:spPr bwMode="auto">
              <a:xfrm>
                <a:off x="1336" y="845"/>
                <a:ext cx="0" cy="9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03889" name="Line 81"/>
              <p:cNvSpPr>
                <a:spLocks noChangeShapeType="1"/>
              </p:cNvSpPr>
              <p:nvPr/>
            </p:nvSpPr>
            <p:spPr bwMode="auto">
              <a:xfrm>
                <a:off x="1487" y="845"/>
                <a:ext cx="0" cy="9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5038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24542" y="2389188"/>
            <a:ext cx="8642350" cy="3992141"/>
          </a:xfrm>
          <a:solidFill>
            <a:schemeClr val="accent1"/>
          </a:solidFill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zh-CN" altLang="en-US" sz="2400" dirty="0">
                <a:solidFill>
                  <a:schemeClr val="bg1"/>
                </a:solidFill>
              </a:rPr>
              <a:t>版本：</a:t>
            </a:r>
            <a:r>
              <a:rPr lang="en-US" altLang="zh-CN" sz="2400" dirty="0">
                <a:solidFill>
                  <a:schemeClr val="bg1"/>
                </a:solidFill>
              </a:rPr>
              <a:t>4bits</a:t>
            </a:r>
            <a:r>
              <a:rPr lang="zh-CN" altLang="en-US" sz="2400" dirty="0">
                <a:solidFill>
                  <a:schemeClr val="bg1"/>
                </a:solidFill>
              </a:rPr>
              <a:t>，指明协议版本</a:t>
            </a:r>
            <a:endParaRPr lang="zh-CN" altLang="en-US" sz="2400" dirty="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</a:pPr>
            <a:r>
              <a:rPr lang="zh-CN" altLang="en-US" sz="2400" dirty="0">
                <a:solidFill>
                  <a:schemeClr val="bg1"/>
                </a:solidFill>
              </a:rPr>
              <a:t>通信类型：</a:t>
            </a:r>
            <a:r>
              <a:rPr lang="en-US" altLang="zh-CN" sz="2400" dirty="0">
                <a:solidFill>
                  <a:schemeClr val="bg1"/>
                </a:solidFill>
              </a:rPr>
              <a:t>8bits</a:t>
            </a:r>
            <a:r>
              <a:rPr lang="zh-CN" altLang="en-US" sz="2400" dirty="0">
                <a:solidFill>
                  <a:schemeClr val="bg1"/>
                </a:solidFill>
              </a:rPr>
              <a:t>，使用一个称为区分服务的业务类型指定数据报所需的一般特征。</a:t>
            </a:r>
            <a:endParaRPr lang="zh-CN" altLang="en-US" sz="2400" dirty="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</a:pPr>
            <a:r>
              <a:rPr lang="zh-CN" altLang="en-US" sz="2400" dirty="0">
                <a:solidFill>
                  <a:schemeClr val="bg1"/>
                </a:solidFill>
              </a:rPr>
              <a:t>流标号：</a:t>
            </a:r>
            <a:r>
              <a:rPr lang="en-US" altLang="zh-CN" sz="2400" dirty="0">
                <a:solidFill>
                  <a:schemeClr val="bg1"/>
                </a:solidFill>
              </a:rPr>
              <a:t>20bits</a:t>
            </a:r>
            <a:r>
              <a:rPr lang="zh-CN" altLang="en-US" sz="2400" dirty="0">
                <a:solidFill>
                  <a:schemeClr val="bg1"/>
                </a:solidFill>
              </a:rPr>
              <a:t>，设计之初的目的是将数据报与一个特定的底层网络路径联系起来。</a:t>
            </a:r>
            <a:endParaRPr lang="zh-CN" altLang="en-US" sz="2400" dirty="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</a:pPr>
            <a:r>
              <a:rPr lang="zh-CN" altLang="en-US" sz="2400" dirty="0">
                <a:solidFill>
                  <a:schemeClr val="bg1"/>
                </a:solidFill>
              </a:rPr>
              <a:t>有效载荷长度：</a:t>
            </a:r>
            <a:r>
              <a:rPr lang="en-US" altLang="zh-CN" sz="2400" dirty="0">
                <a:solidFill>
                  <a:schemeClr val="bg1"/>
                </a:solidFill>
              </a:rPr>
              <a:t>16bits</a:t>
            </a:r>
            <a:r>
              <a:rPr lang="zh-CN" altLang="en-US" sz="2400" dirty="0">
                <a:solidFill>
                  <a:schemeClr val="bg1"/>
                </a:solidFill>
              </a:rPr>
              <a:t>，数据报所携带数据的长度，不包括基本头部。</a:t>
            </a:r>
            <a:endParaRPr lang="zh-CN" altLang="en-US" sz="2400" dirty="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</a:pPr>
            <a:r>
              <a:rPr lang="zh-CN" altLang="en-US" sz="2400" dirty="0">
                <a:solidFill>
                  <a:schemeClr val="bg1"/>
                </a:solidFill>
              </a:rPr>
              <a:t>下一个首部：</a:t>
            </a:r>
            <a:r>
              <a:rPr lang="en-US" altLang="zh-CN" sz="2400" dirty="0">
                <a:solidFill>
                  <a:schemeClr val="bg1"/>
                </a:solidFill>
              </a:rPr>
              <a:t>8bits</a:t>
            </a:r>
            <a:r>
              <a:rPr lang="zh-CN" altLang="en-US" sz="2400" dirty="0">
                <a:solidFill>
                  <a:schemeClr val="bg1"/>
                </a:solidFill>
              </a:rPr>
              <a:t>，用于指定当前头部后面的信息的类型。</a:t>
            </a:r>
            <a:endParaRPr lang="zh-CN" altLang="en-US" sz="2400" dirty="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</a:pPr>
            <a:r>
              <a:rPr lang="zh-CN" altLang="en-US" sz="2400" dirty="0">
                <a:solidFill>
                  <a:schemeClr val="bg1"/>
                </a:solidFill>
              </a:rPr>
              <a:t>跳数限制：数据包在到达目的地之前，如果跳数限制计数器被减小到</a:t>
            </a:r>
            <a:r>
              <a:rPr lang="en-US" altLang="zh-CN" sz="2400" dirty="0">
                <a:solidFill>
                  <a:schemeClr val="bg1"/>
                </a:solidFill>
              </a:rPr>
              <a:t>0</a:t>
            </a:r>
            <a:r>
              <a:rPr lang="zh-CN" altLang="en-US" sz="2400" dirty="0">
                <a:solidFill>
                  <a:schemeClr val="bg1"/>
                </a:solidFill>
              </a:rPr>
              <a:t>，该数据报将被丢弃。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cxnSp>
        <p:nvCxnSpPr>
          <p:cNvPr id="83" name="直接连接符 37"/>
          <p:cNvCxnSpPr/>
          <p:nvPr/>
        </p:nvCxnSpPr>
        <p:spPr>
          <a:xfrm>
            <a:off x="1751013" y="836712"/>
            <a:ext cx="8820472" cy="0"/>
          </a:xfrm>
          <a:prstGeom prst="line">
            <a:avLst/>
          </a:prstGeom>
          <a:ln>
            <a:gradFill flip="none" rotWithShape="1">
              <a:gsLst>
                <a:gs pos="0">
                  <a:srgbClr val="FFF200"/>
                </a:gs>
                <a:gs pos="45000">
                  <a:srgbClr val="FF7A00"/>
                </a:gs>
                <a:gs pos="70000">
                  <a:srgbClr val="FF0300"/>
                </a:gs>
                <a:gs pos="100000">
                  <a:srgbClr val="4D0808"/>
                </a:gs>
              </a:gsLst>
              <a:lin ang="10800000" scaled="1"/>
              <a:tileRect/>
            </a:gra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5" name="页脚占位符 3"/>
          <p:cNvSpPr>
            <a:spLocks noGrp="1"/>
          </p:cNvSpPr>
          <p:nvPr>
            <p:ph type="ftr" sz="quarter" idx="11"/>
          </p:nvPr>
        </p:nvSpPr>
        <p:spPr>
          <a:xfrm>
            <a:off x="1524000" y="6492876"/>
            <a:ext cx="9144000" cy="365125"/>
          </a:xfrm>
          <a:solidFill>
            <a:schemeClr val="accent2">
              <a:lumMod val="75000"/>
            </a:schemeClr>
          </a:solidFill>
          <a:ln w="0"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400" b="1">
                <a:latin typeface="华文行楷" panose="02010800040101010101" pitchFamily="2" charset="-122"/>
                <a:ea typeface="华文行楷" panose="02010800040101010101" pitchFamily="2" charset="-122"/>
              </a:rPr>
              <a:t> </a:t>
            </a:r>
            <a:endParaRPr lang="zh-CN" altLang="en-US" sz="1400" b="1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80E3D-B6AA-43E8-92AC-A23FE7A1E2F2}" type="slidenum">
              <a:rPr lang="en-US" altLang="zh-CN"/>
            </a:fld>
            <a:endParaRPr lang="en-US" altLang="zh-CN"/>
          </a:p>
        </p:txBody>
      </p:sp>
      <p:sp>
        <p:nvSpPr>
          <p:cNvPr id="50585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en-US" altLang="zh-CN" sz="4000" b="1" dirty="0">
                <a:solidFill>
                  <a:srgbClr val="C00000"/>
                </a:solidFill>
              </a:rPr>
              <a:t>IPv6</a:t>
            </a:r>
            <a:r>
              <a:rPr lang="zh-CN" altLang="en-US" sz="4000" b="1" dirty="0">
                <a:solidFill>
                  <a:srgbClr val="C00000"/>
                </a:solidFill>
              </a:rPr>
              <a:t>地址</a:t>
            </a:r>
            <a:endParaRPr lang="zh-CN" altLang="en-US" sz="4000" b="1" dirty="0">
              <a:solidFill>
                <a:srgbClr val="C00000"/>
              </a:solidFill>
            </a:endParaRPr>
          </a:p>
        </p:txBody>
      </p:sp>
      <p:sp>
        <p:nvSpPr>
          <p:cNvPr id="5058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124745"/>
            <a:ext cx="8229600" cy="5001419"/>
          </a:xfrm>
        </p:spPr>
        <p:txBody>
          <a:bodyPr/>
          <a:lstStyle/>
          <a:p>
            <a:pPr>
              <a:lnSpc>
                <a:spcPct val="90000"/>
              </a:lnSpc>
              <a:buClr>
                <a:srgbClr val="C80000"/>
              </a:buClr>
              <a:buSzPct val="80000"/>
              <a:buFont typeface="Wingdings" panose="05000000000000000000" pitchFamily="2" charset="2"/>
              <a:buChar char="n"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IPv6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的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128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位地址是以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16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位为一分组，每个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16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位分组写成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个十六进制数，中间用冒号分隔，称为冒号分十六进制格式。例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ctr">
              <a:buFont typeface="Wingdings" panose="05000000000000000000" pitchFamily="2" charset="2"/>
              <a:buNone/>
            </a:pPr>
            <a:r>
              <a:rPr lang="en-US" altLang="zh-CN" dirty="0"/>
              <a:t>69DC:8864:FFFF:FFFF:0:1280:8C0A:FFFF</a:t>
            </a:r>
            <a:endParaRPr lang="en-US" altLang="zh-CN" dirty="0"/>
          </a:p>
        </p:txBody>
      </p:sp>
      <p:sp>
        <p:nvSpPr>
          <p:cNvPr id="505860" name="Rectangle 4"/>
          <p:cNvSpPr>
            <a:spLocks noChangeArrowheads="1"/>
          </p:cNvSpPr>
          <p:nvPr/>
        </p:nvSpPr>
        <p:spPr bwMode="auto">
          <a:xfrm>
            <a:off x="1558926" y="6597650"/>
            <a:ext cx="2339975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r>
              <a:rPr lang="en-US" altLang="zh-CN" sz="1400">
                <a:solidFill>
                  <a:schemeClr val="bg2"/>
                </a:solidFill>
              </a:rPr>
              <a:t>IPv6</a:t>
            </a:r>
            <a:endParaRPr lang="en-US" altLang="zh-CN" sz="1400">
              <a:solidFill>
                <a:schemeClr val="bg2"/>
              </a:solidFill>
            </a:endParaRPr>
          </a:p>
        </p:txBody>
      </p:sp>
      <p:sp>
        <p:nvSpPr>
          <p:cNvPr id="505861" name="Text Box 5"/>
          <p:cNvSpPr txBox="1">
            <a:spLocks noChangeArrowheads="1"/>
          </p:cNvSpPr>
          <p:nvPr/>
        </p:nvSpPr>
        <p:spPr bwMode="auto">
          <a:xfrm>
            <a:off x="1774825" y="3284539"/>
            <a:ext cx="7994496" cy="461665"/>
          </a:xfrm>
          <a:prstGeom prst="rect">
            <a:avLst/>
          </a:prstGeom>
          <a:solidFill>
            <a:srgbClr val="EAEAEA"/>
          </a:solidFill>
          <a:ln w="9525" algn="ctr">
            <a:solidFill>
              <a:srgbClr val="80008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/>
              <a:t>105.220.136.100.255.255.255.255.0.0.18.128.140.10.255.255</a:t>
            </a:r>
            <a:endParaRPr lang="en-US" altLang="zh-CN" sz="2400"/>
          </a:p>
        </p:txBody>
      </p:sp>
      <p:cxnSp>
        <p:nvCxnSpPr>
          <p:cNvPr id="7" name="直接连接符 37"/>
          <p:cNvCxnSpPr/>
          <p:nvPr/>
        </p:nvCxnSpPr>
        <p:spPr>
          <a:xfrm>
            <a:off x="1751013" y="836712"/>
            <a:ext cx="8820472" cy="0"/>
          </a:xfrm>
          <a:prstGeom prst="line">
            <a:avLst/>
          </a:prstGeom>
          <a:ln>
            <a:gradFill flip="none" rotWithShape="1">
              <a:gsLst>
                <a:gs pos="0">
                  <a:srgbClr val="FFF200"/>
                </a:gs>
                <a:gs pos="45000">
                  <a:srgbClr val="FF7A00"/>
                </a:gs>
                <a:gs pos="70000">
                  <a:srgbClr val="FF0300"/>
                </a:gs>
                <a:gs pos="100000">
                  <a:srgbClr val="4D0808"/>
                </a:gs>
              </a:gsLst>
              <a:lin ang="10800000" scaled="1"/>
              <a:tileRect/>
            </a:gra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" name="页脚占位符 3"/>
          <p:cNvSpPr>
            <a:spLocks noGrp="1"/>
          </p:cNvSpPr>
          <p:nvPr>
            <p:ph type="ftr" sz="quarter" idx="11"/>
          </p:nvPr>
        </p:nvSpPr>
        <p:spPr>
          <a:xfrm>
            <a:off x="1589405" y="6356351"/>
            <a:ext cx="9144000" cy="365125"/>
          </a:xfrm>
          <a:solidFill>
            <a:schemeClr val="accent2">
              <a:lumMod val="75000"/>
            </a:schemeClr>
          </a:solidFill>
          <a:ln w="0"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400" b="1">
                <a:latin typeface="华文行楷" panose="02010800040101010101" pitchFamily="2" charset="-122"/>
                <a:ea typeface="华文行楷" panose="02010800040101010101" pitchFamily="2" charset="-122"/>
              </a:rPr>
              <a:t> </a:t>
            </a:r>
            <a:endParaRPr lang="zh-CN" altLang="en-US" sz="1400" b="1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51013" y="192231"/>
            <a:ext cx="6690014" cy="488806"/>
          </a:xfrm>
        </p:spPr>
        <p:txBody>
          <a:bodyPr>
            <a:normAutofit fontScale="90000"/>
          </a:bodyPr>
          <a:lstStyle/>
          <a:p>
            <a:r>
              <a:rPr lang="zh-CN" altLang="zh-CN" sz="3600" b="1" dirty="0">
                <a:solidFill>
                  <a:srgbClr val="C00000"/>
                </a:solidFill>
              </a:rPr>
              <a:t>特殊的</a:t>
            </a:r>
            <a:r>
              <a:rPr lang="en-US" altLang="zh-CN" sz="3600" b="1" dirty="0">
                <a:solidFill>
                  <a:srgbClr val="C00000"/>
                </a:solidFill>
              </a:rPr>
              <a:t>IP</a:t>
            </a:r>
            <a:r>
              <a:rPr lang="zh-CN" altLang="zh-CN" sz="3600" b="1" dirty="0">
                <a:solidFill>
                  <a:srgbClr val="C00000"/>
                </a:solidFill>
              </a:rPr>
              <a:t>地址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zh-CN" sz="3200" b="1" kern="1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直接广播地址</a:t>
            </a:r>
            <a:r>
              <a:rPr lang="zh-CN" altLang="en-US" sz="3200" b="1" kern="1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：网络号</a:t>
            </a:r>
            <a:r>
              <a:rPr lang="en-US" altLang="zh-CN" sz="3200" b="1" kern="1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zh-CN" altLang="en-US" sz="3200" b="1" kern="1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主机号全</a:t>
            </a:r>
            <a:r>
              <a:rPr lang="en-US" altLang="zh-CN" sz="3200" b="1" kern="1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endParaRPr lang="en-US" altLang="zh-CN" sz="3200" b="1" kern="100" dirty="0">
              <a:effectLst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3200" b="1" kern="100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zh-CN" sz="3200" b="1" kern="1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受限广播地址</a:t>
            </a:r>
            <a:r>
              <a:rPr lang="zh-CN" altLang="en-US" sz="3200" b="1" kern="1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3200" b="1" kern="1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255.255.255.255</a:t>
            </a:r>
            <a:endParaRPr lang="zh-CN" altLang="en-US" sz="4400" b="1" dirty="0"/>
          </a:p>
        </p:txBody>
      </p:sp>
      <p:cxnSp>
        <p:nvCxnSpPr>
          <p:cNvPr id="4" name="直接连接符 37"/>
          <p:cNvCxnSpPr/>
          <p:nvPr/>
        </p:nvCxnSpPr>
        <p:spPr>
          <a:xfrm>
            <a:off x="1751013" y="836712"/>
            <a:ext cx="8820472" cy="0"/>
          </a:xfrm>
          <a:prstGeom prst="line">
            <a:avLst/>
          </a:prstGeom>
          <a:ln>
            <a:gradFill flip="none" rotWithShape="1">
              <a:gsLst>
                <a:gs pos="0">
                  <a:srgbClr val="FFF200"/>
                </a:gs>
                <a:gs pos="45000">
                  <a:srgbClr val="FF7A00"/>
                </a:gs>
                <a:gs pos="70000">
                  <a:srgbClr val="FF0300"/>
                </a:gs>
                <a:gs pos="100000">
                  <a:srgbClr val="4D0808"/>
                </a:gs>
              </a:gsLst>
              <a:lin ang="10800000" scaled="1"/>
              <a:tileRect/>
            </a:gra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2486</Words>
  <Application>WPS 演示</Application>
  <PresentationFormat>自定义</PresentationFormat>
  <Paragraphs>496</Paragraphs>
  <Slides>17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5" baseType="lpstr">
      <vt:lpstr>Arial</vt:lpstr>
      <vt:lpstr>宋体</vt:lpstr>
      <vt:lpstr>Wingdings</vt:lpstr>
      <vt:lpstr>Times New Roman</vt:lpstr>
      <vt:lpstr>黑体</vt:lpstr>
      <vt:lpstr>Symbol</vt:lpstr>
      <vt:lpstr>Calibri</vt:lpstr>
      <vt:lpstr>华文行楷</vt:lpstr>
      <vt:lpstr>楷体</vt:lpstr>
      <vt:lpstr>隶书</vt:lpstr>
      <vt:lpstr>Google Sans</vt:lpstr>
      <vt:lpstr>Segoe Print</vt:lpstr>
      <vt:lpstr>Tahoma</vt:lpstr>
      <vt:lpstr>等线 Light</vt:lpstr>
      <vt:lpstr>微软雅黑</vt:lpstr>
      <vt:lpstr>Arial Unicode MS</vt:lpstr>
      <vt:lpstr>等线</vt:lpstr>
      <vt:lpstr>Office 主题​​</vt:lpstr>
      <vt:lpstr>实验2：IP分片、IPv6 </vt:lpstr>
      <vt:lpstr>IPv4报文格式</vt:lpstr>
      <vt:lpstr>IPv4报文格式(1)</vt:lpstr>
      <vt:lpstr>IPv4报文格式(2)</vt:lpstr>
      <vt:lpstr>IPv4报文格式(3)</vt:lpstr>
      <vt:lpstr>IPv4报文格式(4)</vt:lpstr>
      <vt:lpstr>IPv4报文格式(5)</vt:lpstr>
      <vt:lpstr>IPv4报文格式(6)</vt:lpstr>
      <vt:lpstr> IPv4数据报分段 </vt:lpstr>
      <vt:lpstr>数据报分段示例</vt:lpstr>
      <vt:lpstr>分片后有关字段的变化</vt:lpstr>
      <vt:lpstr>IPv4报文格式(7)</vt:lpstr>
      <vt:lpstr>IPv4报文格式(8)</vt:lpstr>
      <vt:lpstr>IPv6报文格式</vt:lpstr>
      <vt:lpstr>IPv6基本报头字段</vt:lpstr>
      <vt:lpstr>IPv6地址</vt:lpstr>
      <vt:lpstr>特殊的IP地址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实验2 </dc:title>
  <dc:creator>Huo yanmei</dc:creator>
  <cp:lastModifiedBy>俏也不争春 </cp:lastModifiedBy>
  <cp:revision>9</cp:revision>
  <dcterms:created xsi:type="dcterms:W3CDTF">2022-03-13T17:15:00Z</dcterms:created>
  <dcterms:modified xsi:type="dcterms:W3CDTF">2025-02-27T18:33:50Z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89837923B901401FAC65F29F657137BD_12</vt:lpwstr>
  </property>
  <property fmtid="{D5CDD505-2E9C-101B-9397-08002B2CF9AE}" pid="3" name="KSOProductBuildVer">
    <vt:lpwstr>2052-12.1.0.20305</vt:lpwstr>
  </property>
</Properties>
</file>