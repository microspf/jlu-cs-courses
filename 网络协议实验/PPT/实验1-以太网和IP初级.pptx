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868" r:id="rId8"/>
    <p:sldId id="780" r:id="rId9"/>
    <p:sldId id="615" r:id="rId10"/>
    <p:sldId id="616" r:id="rId11"/>
    <p:sldId id="715" r:id="rId12"/>
    <p:sldId id="767" r:id="rId13"/>
    <p:sldId id="768" r:id="rId14"/>
    <p:sldId id="618" r:id="rId15"/>
    <p:sldId id="778" r:id="rId16"/>
    <p:sldId id="869" r:id="rId17"/>
    <p:sldId id="867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59136" autoAdjust="0"/>
  </p:normalViewPr>
  <p:slideViewPr>
    <p:cSldViewPr snapToGrid="0" showGuides="1">
      <p:cViewPr varScale="1">
        <p:scale>
          <a:sx n="68" d="100"/>
          <a:sy n="68" d="100"/>
        </p:scale>
        <p:origin x="2067" y="39"/>
      </p:cViewPr>
      <p:guideLst>
        <p:guide orient="horz" pos="2160"/>
        <p:guide pos="38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8EE4B-F10A-4E13-A8F8-9488859D39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1F6FD-2816-45BC-AF12-F4C1CEF577B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1F6FD-2816-45BC-AF12-F4C1CEF577B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A473A548-28B4-4FCC-AC01-9DB316A0A975}" type="slidenum">
              <a:rPr lang="en-US" altLang="zh-CN"/>
            </a:fld>
            <a:endParaRPr lang="en-US" altLang="zh-CN"/>
          </a:p>
        </p:txBody>
      </p:sp>
      <p:sp>
        <p:nvSpPr>
          <p:cNvPr id="626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6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933" y="228600"/>
            <a:ext cx="11387667" cy="11430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871200" cy="4498975"/>
          </a:xfrm>
        </p:spPr>
        <p:txBody>
          <a:bodyPr rtlCol="0">
            <a:normAutofit/>
          </a:bodyPr>
          <a:lstStyle/>
          <a:p>
            <a:pPr lvl="0"/>
            <a:endParaRPr lang="zh-CN" altLang="en-US" noProof="0"/>
          </a:p>
        </p:txBody>
      </p:sp>
      <p:sp>
        <p:nvSpPr>
          <p:cNvPr id="4" name="Rectangle 25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C5958-C7F7-4EC3-8217-BE80D7CA816F}" type="datetime3">
              <a:rPr lang="zh-CN" altLang="en-US"/>
            </a:fld>
            <a:endParaRPr lang="en-US" altLang="zh-CN"/>
          </a:p>
        </p:txBody>
      </p:sp>
      <p:sp>
        <p:nvSpPr>
          <p:cNvPr id="5" name="Rectangle 25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378EEB-57AE-4407-8978-78A58530AFA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4756A-7F89-430C-8FB9-883CF12FD61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98286-FD2A-4558-8EDF-4A35D054374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6632" y="1122363"/>
            <a:ext cx="10079182" cy="2387600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实验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：以太网帧、</a:t>
            </a:r>
            <a:r>
              <a:rPr lang="en-US" altLang="zh-CN" b="1" dirty="0">
                <a:solidFill>
                  <a:srgbClr val="FF0000"/>
                </a:solidFill>
              </a:rPr>
              <a:t>IPv4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sz="3600" b="1" dirty="0"/>
              <a:t> 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14254"/>
            <a:ext cx="10515600" cy="1325563"/>
          </a:xfrm>
        </p:spPr>
        <p:txBody>
          <a:bodyPr/>
          <a:lstStyle/>
          <a:p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课程时间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与考核形式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9817"/>
            <a:ext cx="10515600" cy="473714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实验学时：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 （实验室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，线上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平时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40% +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考试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60%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平时：实验报告，实验过程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考试：实验过程以及相关知识点，开卷考试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>
              <a:lnSpc>
                <a:spcPct val="12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实验报告要求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685800" lvl="2">
              <a:lnSpc>
                <a:spcPct val="120000"/>
              </a:lnSpc>
              <a:spcBef>
                <a:spcPts val="1000"/>
              </a:spcBef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报告命名：实验序号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.doc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如（实验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>
              <a:lnSpc>
                <a:spcPct val="120000"/>
              </a:lnSpc>
              <a:spcBef>
                <a:spcPts val="1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截图完整清晰，抓住要点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>
              <a:lnSpc>
                <a:spcPct val="120000"/>
              </a:lnSpc>
              <a:spcBef>
                <a:spcPts val="1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分析题认真作答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>
              <a:lnSpc>
                <a:spcPct val="120000"/>
              </a:lnSpc>
              <a:spcBef>
                <a:spcPts val="1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选做部分不做要求，酌情作答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>
              <a:spcBef>
                <a:spcPts val="1000"/>
              </a:spcBef>
            </a:pP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实验指导书使用老师上传的</a:t>
            </a:r>
            <a:r>
              <a:rPr lang="en-US" altLang="zh-CN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word</a:t>
            </a: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版本，不要使用实验系统自带的网页版本的报告。</a:t>
            </a:r>
            <a:endParaRPr lang="zh-CN" altLang="en-US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28600" lvl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一定要注意上传文件大小，</a:t>
            </a:r>
            <a:endParaRPr lang="zh-CN" altLang="en-US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28600" lvl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注意上传和下载在同一练习下，以免覆盖</a:t>
            </a:r>
            <a:endParaRPr lang="zh-CN" altLang="en-US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28600" lvl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3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080655" y="1199481"/>
            <a:ext cx="10219459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6990"/>
            <a:ext cx="10515600" cy="1325563"/>
          </a:xfrm>
        </p:spPr>
        <p:txBody>
          <a:bodyPr/>
          <a:lstStyle/>
          <a:p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8814" y="1550266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网络</a:t>
            </a: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协议栈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常用</a:t>
            </a: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协议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以太网协议、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ARP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DHCP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SMTP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主要协议的报文格式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各协议工作原理、工作过程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各协议特点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协议之间的关系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>
              <a:spcBef>
                <a:spcPts val="1000"/>
              </a:spcBef>
            </a:pPr>
            <a:endParaRPr lang="zh-CN" altLang="en-US" sz="2800" dirty="0"/>
          </a:p>
        </p:txBody>
      </p:sp>
      <p:cxnSp>
        <p:nvCxnSpPr>
          <p:cNvPr id="4" name="直接连接符 3"/>
          <p:cNvCxnSpPr/>
          <p:nvPr/>
        </p:nvCxnSpPr>
        <p:spPr>
          <a:xfrm>
            <a:off x="838200" y="1199481"/>
            <a:ext cx="10461914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3708" y="42360"/>
            <a:ext cx="10706406" cy="1325563"/>
          </a:xfrm>
        </p:spPr>
        <p:txBody>
          <a:bodyPr/>
          <a:lstStyle/>
          <a:p>
            <a:r>
              <a:rPr lang="zh-CN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参考群文件：网络协议分析实验平台操作指导书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.PPT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6577" y="1334709"/>
            <a:ext cx="4647641" cy="480875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bd.jlu.edu.cn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用户名：学号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初始密码：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000000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课程名称：网络协议分析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课上：实验平台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课后：演练平台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软件环境：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协议编辑器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协议分析器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1199481"/>
            <a:ext cx="10461914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标题 1"/>
          <p:cNvSpPr txBox="1"/>
          <p:nvPr/>
        </p:nvSpPr>
        <p:spPr>
          <a:xfrm>
            <a:off x="5883715" y="1199481"/>
            <a:ext cx="47098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</a:rPr>
              <a:t>网络拓扑结构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5928" y="2970502"/>
            <a:ext cx="5629495" cy="2688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266" y="657204"/>
            <a:ext cx="7491467" cy="5543591"/>
          </a:xfrm>
          <a:prstGeom prst="rect">
            <a:avLst/>
          </a:prstGeom>
        </p:spPr>
      </p:pic>
      <p:sp>
        <p:nvSpPr>
          <p:cNvPr id="28" name="Cloud Callout 20"/>
          <p:cNvSpPr/>
          <p:nvPr/>
        </p:nvSpPr>
        <p:spPr>
          <a:xfrm>
            <a:off x="2272839" y="3574240"/>
            <a:ext cx="1873250" cy="720725"/>
          </a:xfrm>
          <a:prstGeom prst="cloud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9" name="Cloud Callout 20"/>
          <p:cNvSpPr/>
          <p:nvPr/>
        </p:nvSpPr>
        <p:spPr>
          <a:xfrm>
            <a:off x="5225167" y="3646248"/>
            <a:ext cx="1873250" cy="720725"/>
          </a:xfrm>
          <a:prstGeom prst="cloud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0" name="Cloud Callout 20"/>
          <p:cNvSpPr/>
          <p:nvPr/>
        </p:nvSpPr>
        <p:spPr>
          <a:xfrm>
            <a:off x="8031843" y="3643408"/>
            <a:ext cx="1873250" cy="720725"/>
          </a:xfrm>
          <a:prstGeom prst="cloud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Cloud Callout 20"/>
          <p:cNvSpPr/>
          <p:nvPr/>
        </p:nvSpPr>
        <p:spPr>
          <a:xfrm>
            <a:off x="2350266" y="4364133"/>
            <a:ext cx="1873250" cy="720725"/>
          </a:xfrm>
          <a:prstGeom prst="cloud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2" name="Cloud Callout 20"/>
          <p:cNvSpPr/>
          <p:nvPr/>
        </p:nvSpPr>
        <p:spPr>
          <a:xfrm>
            <a:off x="5302594" y="4436141"/>
            <a:ext cx="1873250" cy="720725"/>
          </a:xfrm>
          <a:prstGeom prst="cloud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3" name="Cloud Callout 20"/>
          <p:cNvSpPr/>
          <p:nvPr/>
        </p:nvSpPr>
        <p:spPr>
          <a:xfrm>
            <a:off x="8109270" y="4433301"/>
            <a:ext cx="1873250" cy="720725"/>
          </a:xfrm>
          <a:prstGeom prst="cloudCallou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>
                <a:solidFill>
                  <a:schemeClr val="lt1"/>
                </a:solidFill>
              </a:defRPr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4000" kern="1200">
                <a:solidFill>
                  <a:schemeClr val="lt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9B65F-76D2-446C-AA57-0777829B9072}" type="slidenum">
              <a:rPr lang="en-US" altLang="zh-CN"/>
            </a:fld>
            <a:endParaRPr lang="en-US" altLang="zh-CN"/>
          </a:p>
        </p:txBody>
      </p:sp>
      <p:sp>
        <p:nvSpPr>
          <p:cNvPr id="65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C00000"/>
                </a:solidFill>
              </a:rPr>
              <a:t>以太网帧格式：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4183" y="2421224"/>
            <a:ext cx="9263817" cy="4109462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zh-CN" sz="3300" dirty="0"/>
              <a:t>目的</a:t>
            </a:r>
            <a:r>
              <a:rPr lang="en-US" altLang="zh-CN" sz="3300" dirty="0"/>
              <a:t>mac</a:t>
            </a:r>
            <a:r>
              <a:rPr lang="zh-CN" altLang="zh-CN" sz="3300" dirty="0"/>
              <a:t>（</a:t>
            </a:r>
            <a:r>
              <a:rPr lang="en-US" altLang="zh-CN" sz="3300" dirty="0"/>
              <a:t>6B</a:t>
            </a:r>
            <a:r>
              <a:rPr lang="zh-CN" altLang="zh-CN" sz="3300" dirty="0"/>
              <a:t>）</a:t>
            </a:r>
            <a:r>
              <a:rPr lang="en-US" altLang="zh-CN" sz="3300" dirty="0"/>
              <a:t> </a:t>
            </a:r>
            <a:r>
              <a:rPr lang="zh-CN" altLang="en-US" sz="3300" dirty="0"/>
              <a:t>：</a:t>
            </a:r>
            <a:r>
              <a:rPr lang="zh-CN" altLang="zh-CN" sz="3300" dirty="0"/>
              <a:t>单播，广播，</a:t>
            </a:r>
            <a:r>
              <a:rPr lang="zh-CN" altLang="en-US" sz="3300" dirty="0"/>
              <a:t>多播</a:t>
            </a:r>
            <a:endParaRPr lang="en-US" altLang="zh-CN" sz="33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zh-CN" sz="3300" dirty="0"/>
              <a:t>源</a:t>
            </a:r>
            <a:r>
              <a:rPr lang="en-US" altLang="zh-CN" sz="3300" dirty="0"/>
              <a:t>mac(6B) </a:t>
            </a:r>
            <a:endParaRPr lang="en-US" altLang="zh-CN" sz="33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zh-CN" sz="3300" dirty="0"/>
              <a:t>类型</a:t>
            </a:r>
            <a:r>
              <a:rPr lang="en-US" altLang="zh-CN" sz="3300" dirty="0"/>
              <a:t>/</a:t>
            </a:r>
            <a:r>
              <a:rPr lang="zh-CN" altLang="zh-CN" sz="3300" dirty="0"/>
              <a:t>长度</a:t>
            </a:r>
            <a:r>
              <a:rPr lang="en-US" altLang="zh-CN" sz="3300" dirty="0"/>
              <a:t>(2B) </a:t>
            </a:r>
            <a:endParaRPr lang="en-US" altLang="zh-CN" sz="3300" dirty="0"/>
          </a:p>
          <a:p>
            <a:r>
              <a:rPr lang="en-US" altLang="zh-CN" sz="3300" dirty="0"/>
              <a:t>&lt;1500(0x05DC)  </a:t>
            </a:r>
            <a:r>
              <a:rPr lang="zh-CN" altLang="en-US" sz="3300" dirty="0"/>
              <a:t>数据</a:t>
            </a:r>
            <a:r>
              <a:rPr lang="zh-CN" altLang="zh-CN" sz="3300" dirty="0"/>
              <a:t>长度 </a:t>
            </a:r>
            <a:endParaRPr lang="en-US" altLang="zh-CN" sz="3300" dirty="0"/>
          </a:p>
          <a:p>
            <a:r>
              <a:rPr lang="en-US" altLang="zh-CN" sz="3300" dirty="0"/>
              <a:t>&gt;1536(0x0600) </a:t>
            </a:r>
            <a:r>
              <a:rPr lang="zh-CN" altLang="zh-CN" sz="3300" dirty="0"/>
              <a:t>类型 </a:t>
            </a:r>
            <a:endParaRPr lang="en-US" altLang="zh-CN" sz="3300" dirty="0"/>
          </a:p>
          <a:p>
            <a:pPr lvl="1"/>
            <a:r>
              <a:rPr lang="en-US" altLang="zh-CN" sz="3300" dirty="0"/>
              <a:t>0x0800 IPv4       0x0806 ARP    0x86DD IPv6</a:t>
            </a:r>
            <a:endParaRPr lang="zh-CN" altLang="zh-CN" sz="33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zh-CN" sz="3300" dirty="0"/>
              <a:t>数据字段</a:t>
            </a:r>
            <a:r>
              <a:rPr lang="en-US" altLang="zh-CN" sz="3300" dirty="0"/>
              <a:t>(46-</a:t>
            </a:r>
            <a:r>
              <a:rPr lang="en-US" altLang="zh-CN" sz="3300" b="1" dirty="0"/>
              <a:t>1500</a:t>
            </a:r>
            <a:r>
              <a:rPr lang="en-US" altLang="zh-CN" sz="3300" dirty="0"/>
              <a:t>)</a:t>
            </a:r>
            <a:endParaRPr lang="en-US" altLang="zh-CN" sz="3300" b="1" dirty="0"/>
          </a:p>
          <a:p>
            <a:pPr>
              <a:buClr>
                <a:srgbClr val="C00000"/>
              </a:buClr>
            </a:pPr>
            <a:r>
              <a:rPr lang="zh-CN" altLang="en-US" sz="3400" dirty="0"/>
              <a:t>以太网帧长度：</a:t>
            </a:r>
            <a:r>
              <a:rPr lang="en-US" altLang="zh-CN" sz="3400" dirty="0"/>
              <a:t>64-1518</a:t>
            </a:r>
            <a:endParaRPr lang="en-US" altLang="zh-CN" sz="3400" dirty="0"/>
          </a:p>
          <a:p>
            <a:pPr>
              <a:buClr>
                <a:srgbClr val="C00000"/>
              </a:buClr>
            </a:pPr>
            <a:r>
              <a:rPr lang="en-US" altLang="zh-CN" sz="3600" b="1" dirty="0"/>
              <a:t>MTU=1500</a:t>
            </a:r>
            <a:endParaRPr lang="en-US" altLang="zh-CN" sz="34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en-US" altLang="zh-CN" sz="3300" dirty="0"/>
              <a:t>FCS(4B) </a:t>
            </a:r>
            <a:r>
              <a:rPr lang="zh-CN" altLang="en-US" sz="3300" dirty="0"/>
              <a:t>：</a:t>
            </a:r>
            <a:r>
              <a:rPr lang="en-US" altLang="zh-CN" sz="3300" dirty="0"/>
              <a:t>CRC</a:t>
            </a:r>
            <a:r>
              <a:rPr lang="zh-CN" altLang="en-US" sz="3300" dirty="0"/>
              <a:t>校验</a:t>
            </a:r>
            <a:endParaRPr lang="en-US" altLang="zh-CN" sz="3300" dirty="0"/>
          </a:p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zh-CN" altLang="en-US" dirty="0"/>
          </a:p>
        </p:txBody>
      </p:sp>
      <p:sp>
        <p:nvSpPr>
          <p:cNvPr id="658436" name="Rectangle 4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025797" y="1148537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/>
          <a:srcRect l="654"/>
          <a:stretch>
            <a:fillRect/>
          </a:stretch>
        </p:blipFill>
        <p:spPr>
          <a:xfrm>
            <a:off x="1558926" y="1215502"/>
            <a:ext cx="8078319" cy="935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B3595-66ED-4F96-B507-CDC1858782E2}" type="slidenum">
              <a:rPr lang="en-US" altLang="zh-CN"/>
            </a:fld>
            <a:endParaRPr lang="en-US" altLang="zh-CN"/>
          </a:p>
        </p:txBody>
      </p:sp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822450" y="228600"/>
            <a:ext cx="8540750" cy="531810"/>
          </a:xfrm>
        </p:spPr>
        <p:txBody>
          <a:bodyPr>
            <a:normAutofit fontScale="90000"/>
          </a:bodyPr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465395" name="Group 499"/>
          <p:cNvGraphicFramePr>
            <a:graphicFrameLocks noGrp="1"/>
          </p:cNvGraphicFramePr>
          <p:nvPr>
            <p:ph idx="1"/>
          </p:nvPr>
        </p:nvGraphicFramePr>
        <p:xfrm>
          <a:off x="1847850" y="1476375"/>
          <a:ext cx="8497888" cy="4688338"/>
        </p:xfrm>
        <a:graphic>
          <a:graphicData uri="http://schemas.openxmlformats.org/drawingml/2006/table">
            <a:tbl>
              <a:tblPr/>
              <a:tblGrid>
                <a:gridCol w="1063625"/>
                <a:gridCol w="1060450"/>
                <a:gridCol w="2125663"/>
                <a:gridCol w="847725"/>
                <a:gridCol w="3400425"/>
              </a:tblGrid>
              <a:tr h="4540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版本号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4b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报头长度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4b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服务类型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TOS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总长度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字节数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16b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085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标识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16b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标志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偏移量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13b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402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生存时间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TTL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协议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8b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报头校验和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16b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</a:tr>
              <a:tr h="450850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源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IP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地址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4025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目的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IP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地址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32b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0850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选项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（如果有）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908050">
                <a:tc gridSpan="5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rgbClr val="00C800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rgbClr val="0000C8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rgbClr val="FF7F00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80000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黑体" panose="02010609060101010101" pitchFamily="49" charset="-122"/>
                        </a:rPr>
                        <a:t>数据</a:t>
                      </a:r>
                      <a:endParaRPr kumimoji="0" lang="zh-C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黑体" panose="02010609060101010101" pitchFamily="49" charset="-122"/>
                      </a:endParaRPr>
                    </a:p>
                  </a:txBody>
                  <a:tcPr marL="90000" marR="90000" marT="46800" marB="468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65374" name="Text Box 478"/>
          <p:cNvSpPr txBox="1">
            <a:spLocks noChangeArrowheads="1"/>
          </p:cNvSpPr>
          <p:nvPr/>
        </p:nvSpPr>
        <p:spPr bwMode="auto">
          <a:xfrm>
            <a:off x="1738314" y="1125539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/>
              <a:t>0</a:t>
            </a:r>
            <a:endParaRPr lang="en-US" altLang="zh-CN" sz="2000"/>
          </a:p>
        </p:txBody>
      </p:sp>
      <p:sp>
        <p:nvSpPr>
          <p:cNvPr id="465375" name="Text Box 479"/>
          <p:cNvSpPr txBox="1">
            <a:spLocks noChangeArrowheads="1"/>
          </p:cNvSpPr>
          <p:nvPr/>
        </p:nvSpPr>
        <p:spPr bwMode="auto">
          <a:xfrm>
            <a:off x="5664200" y="1125539"/>
            <a:ext cx="819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sz="2000"/>
              <a:t>15 16</a:t>
            </a:r>
            <a:endParaRPr lang="en-US" altLang="zh-CN" sz="2000"/>
          </a:p>
        </p:txBody>
      </p:sp>
      <p:sp>
        <p:nvSpPr>
          <p:cNvPr id="465377" name="Text Box 481"/>
          <p:cNvSpPr txBox="1">
            <a:spLocks noChangeArrowheads="1"/>
          </p:cNvSpPr>
          <p:nvPr/>
        </p:nvSpPr>
        <p:spPr bwMode="auto">
          <a:xfrm>
            <a:off x="10021889" y="1125539"/>
            <a:ext cx="46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zh-CN" sz="2000"/>
              <a:t>31</a:t>
            </a:r>
            <a:endParaRPr lang="en-US" altLang="zh-CN" sz="2000"/>
          </a:p>
        </p:txBody>
      </p:sp>
      <p:sp>
        <p:nvSpPr>
          <p:cNvPr id="465396" name="Text Box 500"/>
          <p:cNvSpPr txBox="1">
            <a:spLocks noChangeArrowheads="1"/>
          </p:cNvSpPr>
          <p:nvPr/>
        </p:nvSpPr>
        <p:spPr bwMode="auto">
          <a:xfrm>
            <a:off x="1689100" y="4724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65397" name="Text Box 501"/>
          <p:cNvSpPr txBox="1">
            <a:spLocks noChangeArrowheads="1"/>
          </p:cNvSpPr>
          <p:nvPr/>
        </p:nvSpPr>
        <p:spPr bwMode="auto">
          <a:xfrm>
            <a:off x="1679575" y="5445125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65398" name="Text Box 502"/>
          <p:cNvSpPr txBox="1">
            <a:spLocks noChangeArrowheads="1"/>
          </p:cNvSpPr>
          <p:nvPr/>
        </p:nvSpPr>
        <p:spPr bwMode="auto">
          <a:xfrm>
            <a:off x="10175875" y="4724400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sp>
        <p:nvSpPr>
          <p:cNvPr id="465399" name="Text Box 503"/>
          <p:cNvSpPr txBox="1">
            <a:spLocks noChangeArrowheads="1"/>
          </p:cNvSpPr>
          <p:nvPr/>
        </p:nvSpPr>
        <p:spPr bwMode="auto">
          <a:xfrm>
            <a:off x="10166350" y="5445125"/>
            <a:ext cx="350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ym typeface="Symbol" panose="05050102010706020507" pitchFamily="18" charset="2"/>
              </a:rPr>
              <a:t></a:t>
            </a:r>
            <a:endParaRPr lang="en-US" altLang="zh-CN" sz="2400">
              <a:sym typeface="Symbol" panose="05050102010706020507" pitchFamily="18" charset="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668141" y="856581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90E0-9E77-4DF9-BBBF-1D6C62744F1B}" type="slidenum">
              <a:rPr lang="en-US" altLang="zh-CN"/>
            </a:fld>
            <a:endParaRPr lang="en-US" altLang="zh-CN"/>
          </a:p>
        </p:txBody>
      </p:sp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20637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(1)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2306" y="3841750"/>
            <a:ext cx="8390158" cy="215198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版本号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(4bit)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：目前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协议的版本号为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；它正逐渐地被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IPv6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版本所替代。 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报头长度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(4bit)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：报头占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位（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字节）的数量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一般是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字节，即该字段的值为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5)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。报头最长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60B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67999" name="Picture 31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70343"/>
            <a:ext cx="8089900" cy="243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8000" name="Rectangle 32"/>
          <p:cNvSpPr>
            <a:spLocks noChangeArrowheads="1"/>
          </p:cNvSpPr>
          <p:nvPr/>
        </p:nvSpPr>
        <p:spPr bwMode="auto">
          <a:xfrm>
            <a:off x="2129633" y="1280000"/>
            <a:ext cx="865187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68001" name="Rectangle 33"/>
          <p:cNvSpPr>
            <a:spLocks noChangeArrowheads="1"/>
          </p:cNvSpPr>
          <p:nvPr/>
        </p:nvSpPr>
        <p:spPr bwMode="auto">
          <a:xfrm>
            <a:off x="3143672" y="1289687"/>
            <a:ext cx="865188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68002" name="Rectangle 34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698464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86BC5-7093-47CE-BC0B-77D7CECF45A3}" type="slidenum">
              <a:rPr lang="en-US" altLang="zh-CN"/>
            </a:fld>
            <a:endParaRPr lang="en-US" altLang="zh-CN"/>
          </a:p>
        </p:txBody>
      </p:sp>
      <p:sp>
        <p:nvSpPr>
          <p:cNvPr id="614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90675" y="-129715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(2)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2998649"/>
            <a:ext cx="8642350" cy="3317655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服务类型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(8)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： 旧标准称为服务类型，但实际上一直未使用。</a:t>
            </a:r>
            <a:endParaRPr lang="zh-CN" altLang="en-US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dirty="0"/>
              <a:t>RFC2474</a:t>
            </a:r>
            <a:r>
              <a:rPr lang="zh-CN" altLang="en-US" dirty="0"/>
              <a:t>重新定义为区分服务。</a:t>
            </a:r>
            <a:r>
              <a:rPr lang="en-US" altLang="zh-CN" dirty="0"/>
              <a:t>3</a:t>
            </a:r>
            <a:r>
              <a:rPr lang="zh-CN" altLang="en-US" dirty="0"/>
              <a:t>比特指明优先顺序，</a:t>
            </a:r>
            <a:r>
              <a:rPr lang="en-US" altLang="zh-CN" dirty="0"/>
              <a:t>3</a:t>
            </a:r>
            <a:r>
              <a:rPr lang="zh-CN" altLang="en-US" dirty="0"/>
              <a:t>比特指明标志位</a:t>
            </a:r>
            <a:r>
              <a:rPr lang="en-US" altLang="zh-CN" dirty="0"/>
              <a:t>D/T/R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比特未用。</a:t>
            </a:r>
            <a:endParaRPr lang="zh-CN" altLang="en-US" dirty="0"/>
          </a:p>
          <a:p>
            <a:pPr lvl="2"/>
            <a:r>
              <a:rPr lang="en-US" altLang="zh-CN" dirty="0"/>
              <a:t>D</a:t>
            </a:r>
            <a:r>
              <a:rPr lang="zh-CN" altLang="en-US" dirty="0"/>
              <a:t>：</a:t>
            </a:r>
            <a:r>
              <a:rPr lang="en-US" altLang="zh-CN" dirty="0"/>
              <a:t>Delay(</a:t>
            </a:r>
            <a:r>
              <a:rPr lang="zh-CN" altLang="en-US" dirty="0"/>
              <a:t>低延迟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en-US" altLang="zh-CN" dirty="0"/>
              <a:t>T</a:t>
            </a:r>
            <a:r>
              <a:rPr lang="zh-CN" altLang="en-US" dirty="0"/>
              <a:t>：</a:t>
            </a:r>
            <a:r>
              <a:rPr lang="en-US" altLang="zh-CN" dirty="0"/>
              <a:t>Throughput(</a:t>
            </a:r>
            <a:r>
              <a:rPr lang="zh-CN" altLang="en-US" dirty="0"/>
              <a:t>高吞吐率</a:t>
            </a:r>
            <a:r>
              <a:rPr lang="en-US" altLang="zh-CN" dirty="0"/>
              <a:t>)</a:t>
            </a:r>
            <a:endParaRPr lang="en-US" altLang="zh-CN" dirty="0"/>
          </a:p>
          <a:p>
            <a:pPr lvl="2"/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Reliability(</a:t>
            </a:r>
            <a:r>
              <a:rPr lang="zh-CN" altLang="en-US" dirty="0"/>
              <a:t>高可靠性</a:t>
            </a:r>
            <a:r>
              <a:rPr lang="en-US" altLang="zh-CN" dirty="0"/>
              <a:t>)</a:t>
            </a:r>
            <a:endParaRPr lang="en-US" altLang="zh-CN" dirty="0"/>
          </a:p>
        </p:txBody>
      </p:sp>
      <p:pic>
        <p:nvPicPr>
          <p:cNvPr id="614404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02821"/>
            <a:ext cx="8089900" cy="175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05" name="Rectangle 5"/>
          <p:cNvSpPr>
            <a:spLocks noChangeArrowheads="1"/>
          </p:cNvSpPr>
          <p:nvPr/>
        </p:nvSpPr>
        <p:spPr bwMode="auto">
          <a:xfrm>
            <a:off x="4151313" y="1125539"/>
            <a:ext cx="1873250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614406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78085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916F6-2824-4CBE-A539-E86BF5A3F295}" type="slidenum">
              <a:rPr lang="en-US" altLang="zh-CN"/>
            </a:fld>
            <a:endParaRPr lang="en-US" altLang="zh-CN"/>
          </a:p>
        </p:txBody>
      </p:sp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161925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(3)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68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3626520"/>
            <a:ext cx="8642350" cy="2250752"/>
          </a:xfrm>
        </p:spPr>
        <p:txBody>
          <a:bodyPr/>
          <a:lstStyle/>
          <a:p>
            <a:r>
              <a:rPr lang="zh-CN" altLang="en-US" dirty="0"/>
              <a:t>总长度</a:t>
            </a:r>
            <a:r>
              <a:rPr lang="en-US" altLang="zh-CN" dirty="0"/>
              <a:t>(16bit) </a:t>
            </a:r>
            <a:r>
              <a:rPr lang="zh-CN" altLang="en-US" dirty="0"/>
              <a:t>：该字段以</a:t>
            </a:r>
            <a:r>
              <a:rPr lang="zh-CN" altLang="en-US" b="1" dirty="0">
                <a:latin typeface="+mj-ea"/>
                <a:ea typeface="+mj-ea"/>
              </a:rPr>
              <a:t>字节</a:t>
            </a:r>
            <a:r>
              <a:rPr lang="zh-CN" altLang="en-US" dirty="0"/>
              <a:t>为单位定义</a:t>
            </a:r>
            <a:r>
              <a:rPr lang="en-US" altLang="zh-CN" dirty="0"/>
              <a:t>IP</a:t>
            </a:r>
            <a:r>
              <a:rPr lang="zh-CN" altLang="en-US" dirty="0"/>
              <a:t>数据报的</a:t>
            </a:r>
            <a:r>
              <a:rPr lang="zh-CN" altLang="en-US" b="1" dirty="0"/>
              <a:t>总长度</a:t>
            </a:r>
            <a:r>
              <a:rPr lang="en-US" altLang="zh-CN" dirty="0"/>
              <a:t>(</a:t>
            </a:r>
            <a:r>
              <a:rPr lang="zh-CN" altLang="en-US" b="1" u="sng" dirty="0"/>
              <a:t>首部加上数据</a:t>
            </a:r>
            <a:r>
              <a:rPr lang="en-US" altLang="zh-CN" dirty="0"/>
              <a:t>)</a:t>
            </a:r>
            <a:r>
              <a:rPr lang="zh-CN" altLang="en-US" dirty="0"/>
              <a:t>。 最大长度可达</a:t>
            </a:r>
            <a:r>
              <a:rPr lang="en-US" altLang="zh-CN" dirty="0"/>
              <a:t>2</a:t>
            </a:r>
            <a:r>
              <a:rPr lang="en-US" altLang="zh-CN" baseline="30000" dirty="0"/>
              <a:t>16</a:t>
            </a:r>
            <a:r>
              <a:rPr lang="en-US" altLang="zh-CN" dirty="0"/>
              <a:t>-1=65,535</a:t>
            </a:r>
            <a:r>
              <a:rPr lang="zh-CN" altLang="en-US" dirty="0"/>
              <a:t>字节。</a:t>
            </a:r>
            <a:endParaRPr lang="zh-CN" altLang="en-US" dirty="0"/>
          </a:p>
          <a:p>
            <a:pPr lvl="1"/>
            <a:r>
              <a:rPr lang="zh-CN" altLang="en-US" dirty="0"/>
              <a:t>分段后，该字段不是指未分段前的数据报长度，而是指各分段的长度</a:t>
            </a:r>
            <a:endParaRPr lang="zh-CN" altLang="en-US" dirty="0"/>
          </a:p>
        </p:txBody>
      </p:sp>
      <p:pic>
        <p:nvPicPr>
          <p:cNvPr id="468996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1305384"/>
            <a:ext cx="8089900" cy="206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8997" name="Rectangle 5"/>
          <p:cNvSpPr>
            <a:spLocks noChangeArrowheads="1"/>
          </p:cNvSpPr>
          <p:nvPr/>
        </p:nvSpPr>
        <p:spPr bwMode="auto">
          <a:xfrm>
            <a:off x="6167438" y="1345828"/>
            <a:ext cx="3889375" cy="287337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68998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673856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476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201" y="1057080"/>
            <a:ext cx="8089900" cy="208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9C177-AD9F-4B88-B80B-180214D03947}" type="slidenum">
              <a:rPr lang="en-US" altLang="zh-CN"/>
            </a:fld>
            <a:endParaRPr lang="en-US" altLang="zh-CN"/>
          </a:p>
        </p:txBody>
      </p:sp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24050" y="-161925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(4)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67880" y="3356993"/>
            <a:ext cx="8338766" cy="2572220"/>
          </a:xfrm>
        </p:spPr>
        <p:txBody>
          <a:bodyPr/>
          <a:lstStyle/>
          <a:p>
            <a:r>
              <a:rPr lang="zh-CN" altLang="en-US" dirty="0"/>
              <a:t>标识</a:t>
            </a:r>
            <a:r>
              <a:rPr lang="en-US" altLang="zh-CN" dirty="0"/>
              <a:t>(16bit)</a:t>
            </a:r>
            <a:r>
              <a:rPr lang="zh-CN" altLang="en-US" dirty="0"/>
              <a:t>：唯一地标识主机发送的每一个数据报。通常每发送一个报文，其值自动加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/>
            <a:r>
              <a:rPr lang="zh-CN" altLang="en-US" dirty="0"/>
              <a:t>该字段</a:t>
            </a:r>
            <a:r>
              <a:rPr lang="zh-CN" altLang="en-US" b="1" dirty="0"/>
              <a:t>不是序号</a:t>
            </a:r>
            <a:r>
              <a:rPr lang="zh-CN" altLang="en-US" dirty="0"/>
              <a:t>（</a:t>
            </a:r>
            <a:r>
              <a:rPr lang="en-US" altLang="zh-CN" b="1" dirty="0"/>
              <a:t>IP</a:t>
            </a:r>
            <a:r>
              <a:rPr lang="zh-CN" altLang="en-US" b="1" dirty="0"/>
              <a:t>是无连接服务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/>
            <a:r>
              <a:rPr lang="zh-CN" altLang="en-US" dirty="0"/>
              <a:t>如果数据包被分段以适应小型数据包的网络，那么</a:t>
            </a:r>
            <a:r>
              <a:rPr lang="zh-CN" altLang="en-US" b="1" dirty="0"/>
              <a:t>每一个分片中都设置相同的标识号码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617477" name="Rectangle 5"/>
          <p:cNvSpPr>
            <a:spLocks noChangeArrowheads="1"/>
          </p:cNvSpPr>
          <p:nvPr/>
        </p:nvSpPr>
        <p:spPr bwMode="auto">
          <a:xfrm>
            <a:off x="2140596" y="1526045"/>
            <a:ext cx="3889375" cy="287338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617478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774825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0F985-FEAF-4B33-A78D-88C0F0DE1730}" type="slidenum">
              <a:rPr lang="en-US" altLang="zh-CN"/>
            </a:fld>
            <a:endParaRPr lang="en-US" altLang="zh-CN"/>
          </a:p>
        </p:txBody>
      </p:sp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58925" y="-205104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(5)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63886" y="2960219"/>
            <a:ext cx="8642350" cy="3396132"/>
          </a:xfrm>
        </p:spPr>
        <p:txBody>
          <a:bodyPr/>
          <a:lstStyle/>
          <a:p>
            <a:r>
              <a:rPr lang="zh-CN" altLang="en-US" sz="2800" dirty="0"/>
              <a:t>标志</a:t>
            </a:r>
            <a:r>
              <a:rPr lang="en-US" altLang="zh-CN" sz="2800" dirty="0"/>
              <a:t>(3bit)</a:t>
            </a:r>
            <a:r>
              <a:rPr lang="zh-CN" altLang="en-US" sz="2800" dirty="0"/>
              <a:t>：目前只有</a:t>
            </a:r>
            <a:r>
              <a:rPr lang="en-US" altLang="zh-CN" sz="2800" dirty="0"/>
              <a:t>2</a:t>
            </a:r>
            <a:r>
              <a:rPr lang="zh-CN" altLang="en-US" sz="2800" dirty="0"/>
              <a:t>位有意义</a:t>
            </a:r>
            <a:endParaRPr lang="zh-CN" altLang="en-US" sz="2800" dirty="0"/>
          </a:p>
          <a:p>
            <a:pPr lvl="1"/>
            <a:r>
              <a:rPr lang="zh-CN" altLang="en-US" sz="2400" dirty="0"/>
              <a:t>第</a:t>
            </a:r>
            <a:r>
              <a:rPr lang="en-US" altLang="zh-CN" sz="2400" dirty="0"/>
              <a:t>1</a:t>
            </a:r>
            <a:r>
              <a:rPr lang="zh-CN" altLang="en-US" sz="2400" dirty="0"/>
              <a:t>位没有使用</a:t>
            </a:r>
            <a:endParaRPr lang="zh-CN" altLang="en-US" sz="2400" dirty="0"/>
          </a:p>
          <a:p>
            <a:pPr lvl="1"/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位为</a:t>
            </a:r>
            <a:r>
              <a:rPr lang="en-US" altLang="zh-CN" sz="2400" dirty="0"/>
              <a:t>DF(Don’t Fragment)</a:t>
            </a:r>
            <a:r>
              <a:rPr lang="zh-CN" altLang="en-US" sz="2400" dirty="0"/>
              <a:t>位，该位被置</a:t>
            </a:r>
            <a:r>
              <a:rPr lang="en-US" altLang="zh-CN" sz="2400" dirty="0"/>
              <a:t>1</a:t>
            </a:r>
            <a:r>
              <a:rPr lang="zh-CN" altLang="en-US" sz="2400" dirty="0"/>
              <a:t>表示</a:t>
            </a:r>
            <a:r>
              <a:rPr lang="zh-CN" altLang="en-US" sz="2400" b="1" dirty="0"/>
              <a:t>不要分段</a:t>
            </a:r>
            <a:r>
              <a:rPr lang="zh-CN" altLang="en-US" sz="2400" dirty="0"/>
              <a:t>，它命令路由器不要将数据报分段，因为目的端不能重组分段。</a:t>
            </a:r>
            <a:endParaRPr lang="zh-CN" altLang="en-US" sz="2400" dirty="0"/>
          </a:p>
          <a:p>
            <a:pPr lvl="1"/>
            <a:r>
              <a:rPr lang="zh-CN" altLang="en-US" sz="2400" dirty="0"/>
              <a:t>第</a:t>
            </a:r>
            <a:r>
              <a:rPr lang="en-US" altLang="zh-CN" sz="2400" dirty="0"/>
              <a:t>3</a:t>
            </a:r>
            <a:r>
              <a:rPr lang="zh-CN" altLang="en-US" sz="2400" dirty="0"/>
              <a:t>位是</a:t>
            </a:r>
            <a:r>
              <a:rPr lang="en-US" altLang="zh-CN" sz="2400" dirty="0"/>
              <a:t>MF(More Fragments) </a:t>
            </a:r>
            <a:r>
              <a:rPr lang="zh-CN" altLang="en-US" sz="2400" dirty="0"/>
              <a:t>位，该位被置</a:t>
            </a:r>
            <a:r>
              <a:rPr lang="en-US" altLang="zh-CN" sz="2400" dirty="0"/>
              <a:t>1</a:t>
            </a:r>
            <a:r>
              <a:rPr lang="zh-CN" altLang="en-US" sz="2400" dirty="0"/>
              <a:t>表示该分段后还有进一步的分段，最后一个分段</a:t>
            </a:r>
            <a:r>
              <a:rPr lang="en-US" altLang="zh-CN" sz="2400" dirty="0"/>
              <a:t>MF</a:t>
            </a:r>
            <a:r>
              <a:rPr lang="zh-CN" altLang="en-US" sz="2400" dirty="0"/>
              <a:t>位为</a:t>
            </a:r>
            <a:r>
              <a:rPr lang="en-US" altLang="zh-CN" sz="2400" dirty="0"/>
              <a:t>0</a:t>
            </a:r>
            <a:endParaRPr lang="en-US" altLang="zh-CN" sz="2400" dirty="0"/>
          </a:p>
          <a:p>
            <a:pPr lvl="1"/>
            <a:r>
              <a:rPr lang="zh-CN" altLang="en-US" sz="2400" dirty="0"/>
              <a:t>是否分段与</a:t>
            </a:r>
            <a:r>
              <a:rPr lang="zh-CN" altLang="en-US" sz="2400" b="1" u="sng" dirty="0"/>
              <a:t>最大传送单元</a:t>
            </a:r>
            <a:r>
              <a:rPr lang="en-US" altLang="zh-CN" sz="2400" b="1" u="sng" dirty="0"/>
              <a:t>(MTU)</a:t>
            </a:r>
            <a:r>
              <a:rPr lang="zh-CN" altLang="en-US" sz="2400" dirty="0"/>
              <a:t>有关</a:t>
            </a:r>
            <a:endParaRPr lang="zh-CN" altLang="en-US" sz="2400" dirty="0"/>
          </a:p>
        </p:txBody>
      </p:sp>
      <p:pic>
        <p:nvPicPr>
          <p:cNvPr id="470021" name="Picture 5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783" y="995682"/>
            <a:ext cx="8089900" cy="187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0022" name="Rectangle 6"/>
          <p:cNvSpPr>
            <a:spLocks noChangeArrowheads="1"/>
          </p:cNvSpPr>
          <p:nvPr/>
        </p:nvSpPr>
        <p:spPr bwMode="auto">
          <a:xfrm>
            <a:off x="6167439" y="1412875"/>
            <a:ext cx="720725" cy="287338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70023" name="Rectangle 7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774825" y="764704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524000" y="6492876"/>
            <a:ext cx="9144000" cy="365125"/>
          </a:xfrm>
          <a:solidFill>
            <a:schemeClr val="accent2">
              <a:lumMod val="75000"/>
            </a:schemeClr>
          </a:solidFill>
          <a:ln w="0"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b="1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endParaRPr lang="zh-CN" altLang="en-US" sz="14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B82E-9CFB-41D2-ADBB-E3884ECFA328}" type="slidenum">
              <a:rPr lang="en-US" altLang="zh-CN"/>
            </a:fld>
            <a:endParaRPr lang="en-US" altLang="zh-CN"/>
          </a:p>
        </p:txBody>
      </p:sp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001" y="-20637"/>
            <a:ext cx="8229600" cy="1143000"/>
          </a:xfrm>
        </p:spPr>
        <p:txBody>
          <a:bodyPr/>
          <a:lstStyle/>
          <a:p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报文格式</a:t>
            </a:r>
            <a:r>
              <a:rPr lang="en-US" altLang="zh-CN" sz="4000" b="1" dirty="0">
                <a:solidFill>
                  <a:srgbClr val="C00000"/>
                </a:solidFill>
              </a:rPr>
              <a:t>(6)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71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4825" y="3412491"/>
            <a:ext cx="8642350" cy="2680806"/>
          </a:xfrm>
        </p:spPr>
        <p:txBody>
          <a:bodyPr/>
          <a:lstStyle/>
          <a:p>
            <a:r>
              <a:rPr lang="zh-CN" altLang="en-US" dirty="0"/>
              <a:t>偏移量</a:t>
            </a:r>
            <a:r>
              <a:rPr lang="en-US" altLang="zh-CN" dirty="0"/>
              <a:t>(13bit)</a:t>
            </a:r>
            <a:r>
              <a:rPr lang="zh-CN" altLang="en-US" dirty="0"/>
              <a:t>：分段偏移说明该分段在当前数据报的什么位置。</a:t>
            </a:r>
            <a:endParaRPr lang="zh-CN" altLang="en-US" dirty="0"/>
          </a:p>
          <a:p>
            <a:pPr lvl="1"/>
            <a:r>
              <a:rPr lang="zh-CN" altLang="en-US" dirty="0"/>
              <a:t>分段偏移以 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字节</a:t>
            </a:r>
            <a:r>
              <a:rPr lang="zh-CN" altLang="en-US" dirty="0"/>
              <a:t>为单位，这样偏移量</a:t>
            </a:r>
            <a:r>
              <a:rPr lang="en-US" altLang="zh-CN" dirty="0"/>
              <a:t>1</a:t>
            </a:r>
            <a:r>
              <a:rPr lang="zh-CN" altLang="en-US" dirty="0"/>
              <a:t>对应字节号</a:t>
            </a:r>
            <a:r>
              <a:rPr lang="en-US" altLang="zh-CN" dirty="0"/>
              <a:t>8</a:t>
            </a:r>
            <a:r>
              <a:rPr lang="zh-CN" altLang="en-US" dirty="0"/>
              <a:t>，偏移量 </a:t>
            </a:r>
            <a:r>
              <a:rPr lang="en-US" altLang="zh-CN" dirty="0"/>
              <a:t>2</a:t>
            </a:r>
            <a:r>
              <a:rPr lang="zh-CN" altLang="en-US" dirty="0"/>
              <a:t>对应字节号</a:t>
            </a:r>
            <a:r>
              <a:rPr lang="en-US" altLang="zh-CN" dirty="0"/>
              <a:t>16</a:t>
            </a:r>
            <a:r>
              <a:rPr lang="zh-CN" altLang="en-US" dirty="0"/>
              <a:t>，依此类推。</a:t>
            </a:r>
            <a:endParaRPr lang="zh-CN" altLang="en-US" dirty="0"/>
          </a:p>
          <a:p>
            <a:pPr lvl="1"/>
            <a:r>
              <a:rPr lang="zh-CN" altLang="en-US" dirty="0"/>
              <a:t>数据报进行分段的主机或路由器必须选择每一个分段的长度</a:t>
            </a:r>
            <a:r>
              <a:rPr lang="zh-CN" altLang="en-US" b="1" dirty="0"/>
              <a:t>能够被</a:t>
            </a:r>
            <a:r>
              <a:rPr lang="en-US" altLang="zh-CN" b="1" dirty="0"/>
              <a:t>8</a:t>
            </a:r>
            <a:r>
              <a:rPr lang="zh-CN" altLang="en-US" b="1" dirty="0"/>
              <a:t>除尽</a:t>
            </a:r>
            <a:r>
              <a:rPr lang="zh-CN" altLang="en-US" dirty="0"/>
              <a:t>。 </a:t>
            </a:r>
            <a:endParaRPr lang="zh-CN" altLang="en-US" dirty="0"/>
          </a:p>
        </p:txBody>
      </p:sp>
      <p:pic>
        <p:nvPicPr>
          <p:cNvPr id="471044" name="Picture 4" descr="Picture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486" y="1045247"/>
            <a:ext cx="8089900" cy="2150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1045" name="Rectangle 5"/>
          <p:cNvSpPr>
            <a:spLocks noChangeArrowheads="1"/>
          </p:cNvSpPr>
          <p:nvPr/>
        </p:nvSpPr>
        <p:spPr bwMode="auto">
          <a:xfrm>
            <a:off x="6984206" y="1543526"/>
            <a:ext cx="3097213" cy="287338"/>
          </a:xfrm>
          <a:prstGeom prst="rect">
            <a:avLst/>
          </a:prstGeom>
          <a:noFill/>
          <a:ln w="28575" algn="ctr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sp>
        <p:nvSpPr>
          <p:cNvPr id="471046" name="Rectangle 6"/>
          <p:cNvSpPr>
            <a:spLocks noChangeArrowheads="1"/>
          </p:cNvSpPr>
          <p:nvPr/>
        </p:nvSpPr>
        <p:spPr bwMode="auto">
          <a:xfrm>
            <a:off x="1558926" y="6597650"/>
            <a:ext cx="23399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r>
              <a:rPr lang="en-US" altLang="zh-CN" sz="1400">
                <a:solidFill>
                  <a:schemeClr val="bg2"/>
                </a:solidFill>
              </a:rPr>
              <a:t>IP</a:t>
            </a:r>
            <a:r>
              <a:rPr lang="zh-CN" altLang="en-US" sz="1400">
                <a:solidFill>
                  <a:schemeClr val="bg2"/>
                </a:solidFill>
              </a:rPr>
              <a:t>报文格式</a:t>
            </a:r>
            <a:endParaRPr lang="zh-CN" altLang="en-US" sz="1400">
              <a:solidFill>
                <a:schemeClr val="bg2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96703" y="908720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 noChangeArrowheads="1"/>
          </p:cNvSpPr>
          <p:nvPr/>
        </p:nvSpPr>
        <p:spPr bwMode="auto">
          <a:xfrm>
            <a:off x="8267700" y="6153943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F45A30-29DA-4A95-BF58-0698B49F6665}" type="slidenum">
              <a:rPr lang="en-US" altLang="zh-CN" sz="1200">
                <a:solidFill>
                  <a:srgbClr val="898989"/>
                </a:solidFill>
              </a:rPr>
            </a:fld>
            <a:endParaRPr lang="en-US" altLang="zh-CN" sz="1200">
              <a:solidFill>
                <a:srgbClr val="898989"/>
              </a:solidFill>
            </a:endParaRPr>
          </a:p>
        </p:txBody>
      </p:sp>
      <p:sp>
        <p:nvSpPr>
          <p:cNvPr id="5" name="Rectangle 2"/>
          <p:cNvSpPr>
            <a:spLocks noGrp="1" noRot="1"/>
          </p:cNvSpPr>
          <p:nvPr/>
        </p:nvSpPr>
        <p:spPr>
          <a:xfrm>
            <a:off x="1479550" y="202407"/>
            <a:ext cx="8540750" cy="96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b="1" dirty="0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IPv4</a:t>
            </a:r>
            <a:r>
              <a:rPr lang="zh-CN" altLang="en-US" sz="4000" b="1" dirty="0">
                <a:solidFill>
                  <a:srgbClr val="C00000"/>
                </a:solidFill>
              </a:rPr>
              <a:t>数据报分段 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6" name="Rectangle 3"/>
          <p:cNvSpPr>
            <a:spLocks noGrp="1" noRot="1"/>
          </p:cNvSpPr>
          <p:nvPr/>
        </p:nvSpPr>
        <p:spPr>
          <a:xfrm>
            <a:off x="3665538" y="1210469"/>
            <a:ext cx="4000500" cy="46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最大传送单元（</a:t>
            </a:r>
            <a:r>
              <a:rPr lang="en-US" altLang="zh-CN" sz="2400"/>
              <a:t>MTU</a:t>
            </a:r>
            <a:r>
              <a:rPr lang="zh-CN" altLang="en-US" sz="2400"/>
              <a:t>） </a:t>
            </a:r>
            <a:endParaRPr lang="zh-CN" altLang="en-US" sz="2400"/>
          </a:p>
        </p:txBody>
      </p:sp>
      <p:pic>
        <p:nvPicPr>
          <p:cNvPr id="7" name="图片 6" descr="0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7319" y="1765950"/>
            <a:ext cx="5976938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table"/>
          <p:cNvPicPr>
            <a:picLocks noGr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1" y="3658393"/>
            <a:ext cx="6264275" cy="2357656"/>
          </a:xfrm>
          <a:prstGeom prst="rect">
            <a:avLst/>
          </a:prstGeom>
        </p:spPr>
      </p:pic>
      <p:cxnSp>
        <p:nvCxnSpPr>
          <p:cNvPr id="9" name="直接连接符 8"/>
          <p:cNvCxnSpPr/>
          <p:nvPr/>
        </p:nvCxnSpPr>
        <p:spPr>
          <a:xfrm>
            <a:off x="1504628" y="1114424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灯片编号占位符 4"/>
          <p:cNvSpPr txBox="1"/>
          <p:nvPr/>
        </p:nvSpPr>
        <p:spPr bwMode="auto">
          <a:xfrm>
            <a:off x="7840663" y="6290469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8E231FA-AF65-41C5-AF94-9F585F0D41CD}" type="slidenum">
              <a:rPr lang="zh-CN" altLang="en-US" sz="1200"/>
            </a:fld>
            <a:endParaRPr lang="zh-CN" alt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51013" y="192231"/>
            <a:ext cx="6690014" cy="488806"/>
          </a:xfrm>
        </p:spPr>
        <p:txBody>
          <a:bodyPr>
            <a:normAutofit fontScale="90000"/>
          </a:bodyPr>
          <a:lstStyle/>
          <a:p>
            <a:r>
              <a:rPr lang="zh-CN" altLang="zh-CN" sz="3600" b="1" dirty="0">
                <a:solidFill>
                  <a:srgbClr val="C00000"/>
                </a:solidFill>
              </a:rPr>
              <a:t>特殊的</a:t>
            </a:r>
            <a:r>
              <a:rPr lang="en-US" altLang="zh-CN" sz="3600" b="1" dirty="0">
                <a:solidFill>
                  <a:srgbClr val="C00000"/>
                </a:solidFill>
              </a:rPr>
              <a:t>IP</a:t>
            </a:r>
            <a:r>
              <a:rPr lang="zh-CN" altLang="zh-CN" sz="3600" b="1" dirty="0">
                <a:solidFill>
                  <a:srgbClr val="C00000"/>
                </a:solidFill>
              </a:rPr>
              <a:t>地址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直接广播地址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：网络号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主机号全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n"/>
            </a:pPr>
            <a:r>
              <a:rPr lang="zh-CN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受限广播地址</a:t>
            </a:r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255.255.255.255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3200" b="1" kern="1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4400" dirty="0"/>
          </a:p>
        </p:txBody>
      </p:sp>
      <p:cxnSp>
        <p:nvCxnSpPr>
          <p:cNvPr id="4" name="直接连接符 37"/>
          <p:cNvCxnSpPr/>
          <p:nvPr/>
        </p:nvCxnSpPr>
        <p:spPr>
          <a:xfrm>
            <a:off x="1751013" y="836712"/>
            <a:ext cx="8820472" cy="0"/>
          </a:xfrm>
          <a:prstGeom prst="line">
            <a:avLst/>
          </a:prstGeom>
          <a:ln>
            <a:gradFill flip="none" rotWithShape="1">
              <a:gsLst>
                <a:gs pos="0">
                  <a:srgbClr val="FFF2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0800000" scaled="1"/>
              <a:tileRect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fe75b2b4-1358-4875-9747-af06a9801c17"/>
  <p:tag name="COMMONDATA" val="eyJoZGlkIjoiOWFiNTZjYWY4MjRkYWE4NDEzYmRmMDdlNWZhNTkyN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1736</Words>
  <Application>WPS 演示</Application>
  <PresentationFormat>宽屏</PresentationFormat>
  <Paragraphs>264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楷体</vt:lpstr>
      <vt:lpstr>黑体</vt:lpstr>
      <vt:lpstr>Times New Roman</vt:lpstr>
      <vt:lpstr>Symbol</vt:lpstr>
      <vt:lpstr>Calibri</vt:lpstr>
      <vt:lpstr>华文行楷</vt:lpstr>
      <vt:lpstr>隶书</vt:lpstr>
      <vt:lpstr>等线 Light</vt:lpstr>
      <vt:lpstr>等线</vt:lpstr>
      <vt:lpstr>Arial Unicode MS</vt:lpstr>
      <vt:lpstr>Office 主题​​</vt:lpstr>
      <vt:lpstr>实验1：以太网帧、IPv4</vt:lpstr>
      <vt:lpstr>课程时间与考核形式</vt:lpstr>
      <vt:lpstr>课程内容</vt:lpstr>
      <vt:lpstr>实验环境（参考群文件：网络协议分析实验平台操作指导书.PPT）</vt:lpstr>
      <vt:lpstr>PowerPoint 演示文稿</vt:lpstr>
      <vt:lpstr>以太网帧格式：</vt:lpstr>
      <vt:lpstr>IPv4报文格式</vt:lpstr>
      <vt:lpstr>IPv4报文格式(1)</vt:lpstr>
      <vt:lpstr>IPv4报文格式(2)</vt:lpstr>
      <vt:lpstr>IPv4报文格式(3)</vt:lpstr>
      <vt:lpstr>IPv4报文格式(4)</vt:lpstr>
      <vt:lpstr>IPv4报文格式(5)</vt:lpstr>
      <vt:lpstr>IPv4报文格式(6)</vt:lpstr>
      <vt:lpstr>PowerPoint 演示文稿</vt:lpstr>
      <vt:lpstr>特殊的IP地址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实验2</dc:title>
  <dc:creator>Huo yanmei</dc:creator>
  <cp:lastModifiedBy>俏也不争春 </cp:lastModifiedBy>
  <cp:revision>47</cp:revision>
  <dcterms:created xsi:type="dcterms:W3CDTF">2022-03-13T17:15:00Z</dcterms:created>
  <dcterms:modified xsi:type="dcterms:W3CDTF">2026-03-15T16:12:49Z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61DF99C65C4E4663A32CD7C29E5FE450_13</vt:lpwstr>
  </property>
  <property fmtid="{D5CDD505-2E9C-101B-9397-08002B2CF9AE}" pid="3" name="KSOProductBuildVer">
    <vt:lpwstr>2052-12.1.0.25225</vt:lpwstr>
  </property>
</Properties>
</file>